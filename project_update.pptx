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5"/>
  </p:notesMasterIdLst>
  <p:sldIdLst>
    <p:sldId id="332" r:id="rId2"/>
    <p:sldId id="275" r:id="rId3"/>
    <p:sldId id="353" r:id="rId4"/>
    <p:sldId id="312" r:id="rId5"/>
    <p:sldId id="327" r:id="rId6"/>
    <p:sldId id="334" r:id="rId7"/>
    <p:sldId id="354" r:id="rId8"/>
    <p:sldId id="355" r:id="rId9"/>
    <p:sldId id="356" r:id="rId10"/>
    <p:sldId id="362" r:id="rId11"/>
    <p:sldId id="361" r:id="rId12"/>
    <p:sldId id="365" r:id="rId13"/>
    <p:sldId id="369" r:id="rId14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13"/>
    <p:restoredTop sz="96301"/>
  </p:normalViewPr>
  <p:slideViewPr>
    <p:cSldViewPr snapToGrid="0">
      <p:cViewPr varScale="1">
        <p:scale>
          <a:sx n="85" d="100"/>
          <a:sy n="85" d="100"/>
        </p:scale>
        <p:origin x="200" y="9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69A4D8-3B2C-044F-B9CE-BA9A5D441629}" type="datetimeFigureOut">
              <a:rPr lang="en-CN" smtClean="0"/>
              <a:t>2026/6/10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6F683E-058F-7844-92CC-A1F3595AD25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2699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35A-B65B-BA43-DEFA-701C430F64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017265-960C-FE67-F86C-66A70F2B78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79538-356D-7C7F-EE4F-968ECE9D1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F109AB-5A71-B848-AE30-6241B4A377C3}" type="datetime1">
              <a:rPr lang="en-US" smtClean="0"/>
              <a:t>6/10/26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593132-E1B1-0F99-3E3B-119533FB8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281E1-7FB5-F70B-4379-3030052DB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2226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49205-F00A-E131-F6A7-DB0222E7D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1C8A6C-D713-B849-C327-8BAEE84BA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08F24-DFE6-3506-C4E9-CBE7FDF9E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112CF-B6AE-474E-A1D1-12258281CB95}" type="datetime1">
              <a:rPr lang="en-US" smtClean="0"/>
              <a:t>6/10/26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2B6B1-377C-00E6-D221-41B5A0710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14BB0-1C6B-D643-5E39-B8D6DB167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83132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74D16-7790-5C56-D603-85445D366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E0D2B4-2803-8849-1DC1-0FBB60A74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568C0-F943-674A-357A-27859DB32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26D9D0-4F79-BC4B-978E-030A93E4CCAE}" type="datetime1">
              <a:rPr lang="en-US" smtClean="0"/>
              <a:t>6/10/26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0D17ED-4A5F-2ECD-3DAC-F7EB47670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1F291-2A9E-885E-95C7-EF1B2F6E2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54649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BBC3D-A765-3BBE-F432-592CAD070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05179-5264-9811-AC7A-A3F895D803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92ACB9-92BE-3642-0D1D-5474C35CE0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100400-C3A5-DD8F-B7D1-C7D8AC2CB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2B4FA-D8CB-FF46-9B48-72A2520F1EB0}" type="datetime1">
              <a:rPr lang="en-US" smtClean="0"/>
              <a:t>6/10/26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717634-6DA0-E2B1-3C11-9D477007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E259A4-E452-D3B1-6567-536EEC013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26312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1694B-37DC-9BF5-1B57-C11F0305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DF299-3F31-A743-BB96-3BB70CA1E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F6C586-16D1-252D-8FD0-3698FE385B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900F95-C143-B477-AA72-E3C28172B5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8AF49F-6DFC-246B-D645-9FFA0A6101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EB587F-EC2A-2932-FEF6-686366A4E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D5D45-C04D-A143-B571-20041271315A}" type="datetime1">
              <a:rPr lang="en-US" smtClean="0"/>
              <a:t>6/10/26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AD7BE5-FFF9-EAD4-EC22-AB90B109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93856D-0319-1A63-66F8-021F2B610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17338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08932-6E0F-B5E7-9265-02793EF01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7746D0-4F72-5D91-8067-699C199F5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770501-1AEF-9240-8471-86DF1A6D9745}" type="datetime1">
              <a:rPr lang="en-US" smtClean="0"/>
              <a:t>6/10/26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45484-51AD-53CB-5C95-065E98EBA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4657B2-CA9B-1000-A50E-1754070FC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54779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3A21C2-18B1-7B7B-2B43-F949CDA4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344E2-A38D-ED4A-9FAE-38DACDB44195}" type="datetime1">
              <a:rPr lang="en-US" smtClean="0"/>
              <a:t>6/10/26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21A609-0268-4640-BD31-47BB5C664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1EAA3-D590-C543-7AAC-FC05D5D28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80609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72503-45C9-65D7-9526-66CCE46C5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2CAF-BD6D-4CAB-7871-56FD71858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3417B6-A247-00DE-975B-196884314B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B63B4F-350B-2D06-7778-81FE02D5D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8D108-18C9-8A47-BCEE-FC844F24048D}" type="datetime1">
              <a:rPr lang="en-US" smtClean="0"/>
              <a:t>6/10/26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1AB013-FDAD-420E-8447-52DD12987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BD807F-6E2B-B302-79AD-EAAF990CF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46143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6BF97-12AC-9DC9-310D-AA0936A53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727154-2E33-C916-2D68-88ED9C0600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054101-0138-32EE-FA02-BFA45EAA07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45ECC4-CE26-F232-E79D-64AB88CF7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4B0546-E853-EA4A-BB99-95D94DD39026}" type="datetime1">
              <a:rPr lang="en-US" smtClean="0"/>
              <a:t>6/10/26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06E3AA-BD02-E5EF-F8D5-E57A2A56D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A486DF-DDC2-B9A1-2228-CD93DAAC8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47230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54CBF-5A37-053A-B794-1F88C6DEE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236724-CF77-6AB1-33AE-5D0863B82F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7BFAA7-6176-B479-B30D-C8A8C295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8228F-5CF2-0046-9186-A5BCE16AD50F}" type="datetime1">
              <a:rPr lang="en-US" smtClean="0"/>
              <a:t>6/10/26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AAAF4-55DE-C618-860F-87E909782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3C8BE-2A9B-4574-E706-716E0556C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89560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7AF81-A906-0820-E3B0-ECB5B41F9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9D0E12-01BF-F3F9-314B-7C9A07318E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1DC7C-0EE4-BD6F-CC11-E73EFD494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B0477-26BF-834F-AE73-C91BC4DF75D4}" type="datetime1">
              <a:rPr lang="en-US" smtClean="0"/>
              <a:t>6/10/26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DB8B6-1130-96D9-00F9-AF4BE6424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39F2E3-8EA6-9A8F-7D4B-799C939E4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85726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ADE98C-48CB-A7C5-69C0-7C8225D3A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645230-8B91-5EE3-70F9-FFF397887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0E9FA-4887-C647-1227-3563FEDD94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67D221-21D5-E343-9B76-E6DA17C5106F}" type="datetime1">
              <a:rPr lang="en-US" smtClean="0"/>
              <a:t>6/10/26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58184-3AA3-E462-D97A-C246FFF114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8C0461-8630-3F7B-0BBE-781F8A335C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A7A6B-4B1F-5446-A3A1-99DEB5EA7F8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2408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FF716-6B78-A664-4C46-3C5977ECD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3C9D4CEF-3555-7854-1F9D-D28008C4F26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B634FB-DF64-3844-36D2-1830F63A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endParaRPr lang="en-US" sz="32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A2116-23F5-FE71-A642-B53DB8E4A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100"/>
              </a:spcBef>
              <a:spcAft>
                <a:spcPts val="150"/>
              </a:spcAft>
              <a:buNone/>
            </a:pPr>
            <a:endParaRPr lang="en-US" sz="1500" dirty="0">
              <a:solidFill>
                <a:srgbClr val="0073C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6C49-890C-B537-243D-F46EA0E6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F552D167-F6C6-DD8A-C58A-E3062CB80615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4F6969E-B7D6-DB4F-3D46-0898E5231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5640A57E-3A3F-4D74-E8E3-76F0EFD6D3B0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</p:spTree>
    <p:extLst>
      <p:ext uri="{BB962C8B-B14F-4D97-AF65-F5344CB8AC3E}">
        <p14:creationId xmlns:p14="http://schemas.microsoft.com/office/powerpoint/2010/main" val="3498725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ide Band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Stripe"/>
          <p:cNvSpPr/>
          <p:nvPr/>
        </p:nvSpPr>
        <p:spPr>
          <a:xfrm>
            <a:off x="914400" y="4572000"/>
            <a:ext cx="1524000" cy="76200"/>
          </a:xfrm>
          <a:prstGeom prst="rect">
            <a:avLst/>
          </a:prstGeom>
          <a:solidFill>
            <a:srgbClr val="0073C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03BC2B-9AD7-8F77-0482-60AC0C38D2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489200"/>
            <a:ext cx="10414000" cy="1524000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4800" b="1" dirty="0">
                <a:solidFill>
                  <a:srgbClr val="00396B"/>
                </a:solidFill>
              </a:rPr>
              <a:t>Summer Intern Project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06AAC-30D0-931F-13F6-83F8F178D3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4978400"/>
            <a:ext cx="9652000" cy="889000"/>
          </a:xfrm>
        </p:spPr>
        <p:txBody>
          <a:bodyPr anchor="ctr">
            <a:norm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396B"/>
                </a:solidFill>
              </a:rPr>
              <a:t>Quan Wei</a:t>
            </a:r>
            <a:r>
              <a:rPr lang="en-US" sz="1800" dirty="0">
                <a:solidFill>
                  <a:srgbClr val="9AA7B5"/>
                </a:solidFill>
              </a:rPr>
              <a:t>      |      </a:t>
            </a:r>
            <a:r>
              <a:rPr lang="en-US" sz="1600" dirty="0">
                <a:solidFill>
                  <a:srgbClr val="6E7B8B"/>
                </a:solidFill>
              </a:rPr>
              <a:t>June 1 – August 7,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07311-195D-0088-1A8F-8AE5FDECF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2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1" name="Band Label"/>
          <p:cNvSpPr/>
          <p:nvPr/>
        </p:nvSpPr>
        <p:spPr>
          <a:xfrm>
            <a:off x="914400" y="2133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>
              <a:buNone/>
            </a:pPr>
            <a:r>
              <a:rPr lang="en-US" sz="1400" b="1" spc="300" dirty="0">
                <a:solidFill>
                  <a:srgbClr val="0073CF"/>
                </a:solidFill>
              </a:rPr>
              <a:t>RESEARCH INTERNSHIP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B1ED2A-126C-C268-0703-0A945A4F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11200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588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571E8-75E4-DDB6-C54E-9A6DD05EE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ide Band">
            <a:extLst>
              <a:ext uri="{FF2B5EF4-FFF2-40B4-BE49-F238E27FC236}">
                <a16:creationId xmlns:a16="http://schemas.microsoft.com/office/drawing/2014/main" id="{DADDDFD8-A892-4C1C-B8FF-D1173ED0F599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Stripe">
            <a:extLst>
              <a:ext uri="{FF2B5EF4-FFF2-40B4-BE49-F238E27FC236}">
                <a16:creationId xmlns:a16="http://schemas.microsoft.com/office/drawing/2014/main" id="{105FDE61-73DD-61E8-505D-25DB1AF5DA9B}"/>
              </a:ext>
            </a:extLst>
          </p:cNvPr>
          <p:cNvSpPr/>
          <p:nvPr/>
        </p:nvSpPr>
        <p:spPr>
          <a:xfrm>
            <a:off x="914400" y="4572000"/>
            <a:ext cx="1524000" cy="76200"/>
          </a:xfrm>
          <a:prstGeom prst="rect">
            <a:avLst/>
          </a:prstGeom>
          <a:solidFill>
            <a:srgbClr val="0073C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696C4B-6147-A048-89F8-E1900C10B3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489200"/>
            <a:ext cx="10414000" cy="1524000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4800" b="1" dirty="0">
                <a:solidFill>
                  <a:srgbClr val="00396B"/>
                </a:solidFill>
              </a:rPr>
              <a:t>Summer Intern Project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7ABAE-485D-8204-76A7-B7CFC51E16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4978400"/>
            <a:ext cx="9652000" cy="889000"/>
          </a:xfrm>
        </p:spPr>
        <p:txBody>
          <a:bodyPr anchor="ctr">
            <a:norm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396B"/>
                </a:solidFill>
              </a:rPr>
              <a:t>Quan Wei</a:t>
            </a:r>
            <a:r>
              <a:rPr lang="en-US" sz="1800" dirty="0">
                <a:solidFill>
                  <a:srgbClr val="9AA7B5"/>
                </a:solidFill>
              </a:rPr>
              <a:t>      |      </a:t>
            </a:r>
            <a:r>
              <a:rPr lang="en-US" sz="1600" dirty="0">
                <a:solidFill>
                  <a:srgbClr val="6E7B8B"/>
                </a:solidFill>
              </a:rPr>
              <a:t>Wee</a:t>
            </a:r>
            <a:r>
              <a:rPr lang="en-US" altLang="zh-CN" sz="1600" dirty="0">
                <a:solidFill>
                  <a:srgbClr val="6E7B8B"/>
                </a:solidFill>
              </a:rPr>
              <a:t>k</a:t>
            </a:r>
            <a:r>
              <a:rPr lang="zh-CN" altLang="en-US" sz="1600" dirty="0">
                <a:solidFill>
                  <a:srgbClr val="6E7B8B"/>
                </a:solidFill>
              </a:rPr>
              <a:t> </a:t>
            </a:r>
            <a:r>
              <a:rPr lang="en-US" altLang="zh-CN" sz="1600" dirty="0">
                <a:solidFill>
                  <a:srgbClr val="6E7B8B"/>
                </a:solidFill>
              </a:rPr>
              <a:t>1</a:t>
            </a:r>
            <a:endParaRPr lang="en-US" sz="1600" dirty="0">
              <a:solidFill>
                <a:srgbClr val="6E7B8B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F58E6-7DAD-1A83-1C57-81BEF89E3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3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1" name="Band Label">
            <a:extLst>
              <a:ext uri="{FF2B5EF4-FFF2-40B4-BE49-F238E27FC236}">
                <a16:creationId xmlns:a16="http://schemas.microsoft.com/office/drawing/2014/main" id="{677DDEFC-0AB0-13A2-6B42-E9B6867CA4A4}"/>
              </a:ext>
            </a:extLst>
          </p:cNvPr>
          <p:cNvSpPr/>
          <p:nvPr/>
        </p:nvSpPr>
        <p:spPr>
          <a:xfrm>
            <a:off x="914400" y="2133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>
              <a:buNone/>
            </a:pPr>
            <a:r>
              <a:rPr lang="en-US" sz="1400" b="1" spc="300" dirty="0">
                <a:solidFill>
                  <a:srgbClr val="0073CF"/>
                </a:solidFill>
              </a:rPr>
              <a:t>RESEARCH INTERNSHIP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E1924F-9B49-64C2-0074-9F7A31659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11200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8351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F8E0CC54-DBBB-3447-ACA3-D3B00C64F27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F8EF8D-F4E9-0325-EF07-45C8516ED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pPr algn="l">
              <a:buNone/>
            </a:pPr>
            <a:r>
              <a:rPr lang="en-US" sz="3200" b="1" dirty="0">
                <a:solidFill>
                  <a:srgbClr val="00396B"/>
                </a:solidFill>
              </a:rPr>
              <a:t>Project</a:t>
            </a:r>
            <a:r>
              <a:rPr lang="zh-CN" altLang="en-US" sz="3200" b="1" dirty="0">
                <a:solidFill>
                  <a:srgbClr val="00396B"/>
                </a:solidFill>
              </a:rPr>
              <a:t> </a:t>
            </a:r>
            <a:r>
              <a:rPr lang="en-US" altLang="zh-CN" sz="3200" b="1" dirty="0">
                <a:solidFill>
                  <a:srgbClr val="00396B"/>
                </a:solidFill>
              </a:rPr>
              <a:t>Overview</a:t>
            </a:r>
            <a:endParaRPr lang="en-US" sz="32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3DCF4-26B4-2A4F-9E1E-5D811CCCC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/>
          <a:lstStyle/>
          <a:p>
            <a:pPr>
              <a:buNone/>
            </a:pPr>
            <a:endParaRPr lang="en-US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7D30ED-9F42-0C26-DC61-D1A079C2B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4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60581B44-37E6-4B43-822C-4B9692BF2E7D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56B1ED2A-126C-C268-0703-0A945A4F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20" name="Card Header 20"/>
          <p:cNvSpPr/>
          <p:nvPr/>
        </p:nvSpPr>
        <p:spPr>
          <a:xfrm>
            <a:off x="838200" y="2489200"/>
            <a:ext cx="5080000" cy="584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0396B"/>
          </a:solidFill>
          <a:ln>
            <a:noFill/>
          </a:ln>
        </p:spPr>
        <p:txBody>
          <a:bodyPr wrap="square" lIns="203200" tIns="0" rIns="203200" bIns="0" anchor="ctr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</a:rPr>
              <a:t>Research Direction</a:t>
            </a:r>
          </a:p>
        </p:txBody>
      </p:sp>
      <p:sp>
        <p:nvSpPr>
          <p:cNvPr id="21" name="Card Body 20"/>
          <p:cNvSpPr/>
          <p:nvPr/>
        </p:nvSpPr>
        <p:spPr>
          <a:xfrm>
            <a:off x="838200" y="3073400"/>
            <a:ext cx="5080000" cy="3175000"/>
          </a:xfrm>
          <a:prstGeom prst="round2SameRect">
            <a:avLst>
              <a:gd name="adj1" fmla="val 0"/>
              <a:gd name="adj2" fmla="val 12000"/>
            </a:avLst>
          </a:prstGeom>
          <a:solidFill>
            <a:srgbClr val="EEF2F6"/>
          </a:solidFill>
          <a:ln>
            <a:noFill/>
          </a:ln>
        </p:spPr>
        <p:txBody>
          <a:bodyPr wrap="square" lIns="228600" tIns="177800" rIns="228600" bIns="17780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A1A1A"/>
                </a:solidFill>
              </a:rPr>
              <a:t>LLM-based multi-agent system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Agent harness: </a:t>
            </a:r>
            <a:r>
              <a:rPr lang="en-US" sz="1500" dirty="0">
                <a:solidFill>
                  <a:srgbClr val="1A1A1A"/>
                </a:solidFill>
              </a:rPr>
              <a:t>scaffolding around the LLM that manages the reasoning loop, tool invocation, and state across turns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Decentralized coordination: </a:t>
            </a:r>
            <a:r>
              <a:rPr lang="en-US" sz="1500" dirty="0">
                <a:solidFill>
                  <a:srgbClr val="1A1A1A"/>
                </a:solidFill>
              </a:rPr>
              <a:t>agents self-organize and reach consensus without a central orchestrator</a:t>
            </a:r>
          </a:p>
        </p:txBody>
      </p:sp>
      <p:sp>
        <p:nvSpPr>
          <p:cNvPr id="30" name="Card Header 30"/>
          <p:cNvSpPr/>
          <p:nvPr/>
        </p:nvSpPr>
        <p:spPr>
          <a:xfrm>
            <a:off x="6273800" y="2489200"/>
            <a:ext cx="5080000" cy="584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0396B"/>
          </a:solidFill>
          <a:ln>
            <a:noFill/>
          </a:ln>
        </p:spPr>
        <p:txBody>
          <a:bodyPr wrap="square" lIns="203200" tIns="0" rIns="203200" bIns="0" anchor="ctr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</a:rPr>
              <a:t>Goals</a:t>
            </a:r>
          </a:p>
        </p:txBody>
      </p:sp>
      <p:sp>
        <p:nvSpPr>
          <p:cNvPr id="31" name="Card Body 30"/>
          <p:cNvSpPr/>
          <p:nvPr/>
        </p:nvSpPr>
        <p:spPr>
          <a:xfrm>
            <a:off x="6273800" y="3073400"/>
            <a:ext cx="5080000" cy="3175000"/>
          </a:xfrm>
          <a:prstGeom prst="round2SameRect">
            <a:avLst>
              <a:gd name="adj1" fmla="val 0"/>
              <a:gd name="adj2" fmla="val 12000"/>
            </a:avLst>
          </a:prstGeom>
          <a:solidFill>
            <a:srgbClr val="EEF2F6"/>
          </a:solidFill>
          <a:ln>
            <a:noFill/>
          </a:ln>
        </p:spPr>
        <p:txBody>
          <a:bodyPr wrap="square" lIns="228600" tIns="177800" rIns="228600" bIns="177800" anchor="t"/>
          <a:lstStyle/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Effective agent workflows: </a:t>
            </a:r>
            <a:r>
              <a:rPr lang="en-US" sz="1500" dirty="0">
                <a:solidFill>
                  <a:srgbClr val="1A1A1A"/>
                </a:solidFill>
              </a:rPr>
              <a:t>robust task decomposition and recovery that hold up on long-horizon tasks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Token efficiency: </a:t>
            </a:r>
            <a:r>
              <a:rPr lang="en-US" sz="1500" dirty="0">
                <a:solidFill>
                  <a:srgbClr val="1A1A1A"/>
                </a:solidFill>
              </a:rPr>
              <a:t>cut inter-agent communication and context overhead without losing accuracy</a:t>
            </a:r>
          </a:p>
          <a:p>
            <a:pPr marL="254000" indent="-2540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Research output: </a:t>
            </a:r>
            <a:r>
              <a:rPr lang="en-US" sz="1500" dirty="0">
                <a:solidFill>
                  <a:srgbClr val="1A1A1A"/>
                </a:solidFill>
              </a:rPr>
              <a:t>identify challenging, high-impact problems, solve them, and consolidate the findings into a paper submission</a:t>
            </a:r>
          </a:p>
        </p:txBody>
      </p:sp>
      <p:sp>
        <p:nvSpPr>
          <p:cNvPr id="10" name="Footer Name">
            <a:extLst>
              <a:ext uri="{FF2B5EF4-FFF2-40B4-BE49-F238E27FC236}">
                <a16:creationId xmlns:a16="http://schemas.microsoft.com/office/drawing/2014/main" id="{C86A6180-15B8-B344-BE74-A13E0788843F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</p:spTree>
    <p:extLst>
      <p:ext uri="{BB962C8B-B14F-4D97-AF65-F5344CB8AC3E}">
        <p14:creationId xmlns:p14="http://schemas.microsoft.com/office/powerpoint/2010/main" val="2649299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EBEB-8015-2366-C980-540CC20E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3C4C11B8-CC0E-5DAA-BC2A-D74FC9415AF1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F7C45E-9EB4-C736-A453-7F982B206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r>
              <a:rPr lang="en-US" altLang="zh-CN" sz="3200" b="1" dirty="0">
                <a:solidFill>
                  <a:srgbClr val="00396B"/>
                </a:solidFill>
              </a:rPr>
              <a:t>Project</a:t>
            </a:r>
            <a:r>
              <a:rPr lang="zh-CN" altLang="en-US" sz="3200" b="1" dirty="0">
                <a:solidFill>
                  <a:srgbClr val="00396B"/>
                </a:solidFill>
              </a:rPr>
              <a:t> </a:t>
            </a:r>
            <a:r>
              <a:rPr lang="en-US" sz="3200" b="1" dirty="0">
                <a:solidFill>
                  <a:srgbClr val="00396B"/>
                </a:solidFill>
              </a:rPr>
              <a:t>Proposal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F6CFD-F019-3D66-B40F-9942631B9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4572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0396B"/>
                </a:solidFill>
              </a:rPr>
              <a:t>Large–Small Model Collaboration</a:t>
            </a:r>
            <a:r>
              <a:rPr lang="en-US" sz="1600" dirty="0">
                <a:solidFill>
                  <a:srgbClr val="3A3A3C"/>
                </a:solidFill>
              </a:rPr>
              <a:t>  —  each tier does the work it is best suited for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F33FE-E587-E27D-873C-E07E16B0A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5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C68C517F-5ACB-7B49-135C-7434082740D8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CA4B2E08-AD10-974E-24F5-613EE04D3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96DB3708-BCDB-4D06-A70B-E5FA88A3E60A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  <p:graphicFrame>
        <p:nvGraphicFramePr>
          <p:cNvPr id="9" name="LLM SLM Table">
            <a:extLst>
              <a:ext uri="{FF2B5EF4-FFF2-40B4-BE49-F238E27FC236}">
                <a16:creationId xmlns:a16="http://schemas.microsoft.com/office/drawing/2014/main" id="{29D22ECD-818E-5847-B870-BB464A49F2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387024"/>
              </p:ext>
            </p:extLst>
          </p:nvPr>
        </p:nvGraphicFramePr>
        <p:xfrm>
          <a:off x="838200" y="2971800"/>
          <a:ext cx="10515600" cy="142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10865314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660271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61020268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l"/>
                      <a:endParaRPr lang="en-CN" sz="1500" b="1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0039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500" b="1">
                          <a:solidFill>
                            <a:srgbClr val="FFFFFF"/>
                          </a:solidFill>
                        </a:rPr>
                        <a:t>Large model (LLM)</a:t>
                      </a:r>
                    </a:p>
                  </a:txBody>
                  <a:tcPr anchor="ctr">
                    <a:solidFill>
                      <a:srgbClr val="0039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1500" b="1">
                          <a:solidFill>
                            <a:srgbClr val="FFFFFF"/>
                          </a:solidFill>
                        </a:rPr>
                        <a:t>Small model (SLM)</a:t>
                      </a:r>
                    </a:p>
                  </a:txBody>
                  <a:tcPr anchor="ctr">
                    <a:solidFill>
                      <a:srgbClr val="0039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58065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CN" sz="1400" b="1">
                          <a:solidFill>
                            <a:srgbClr val="00396B"/>
                          </a:solidFill>
                        </a:rPr>
                        <a:t>Role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Planner / orchestrator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Executor / specialist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05921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CN" sz="1400" b="1">
                          <a:solidFill>
                            <a:srgbClr val="00396B"/>
                          </a:solidFill>
                        </a:rPr>
                        <a:t>Handles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Complex reasoning, decomposition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>
                          <a:solidFill>
                            <a:srgbClr val="1A1A1A"/>
                          </a:solidFill>
                        </a:rPr>
                        <a:t>Routine, latency-sensitive subtasks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79617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CN" sz="1400" b="1" dirty="0">
                          <a:solidFill>
                            <a:srgbClr val="00396B"/>
                          </a:solidFill>
                        </a:rPr>
                        <a:t>Cost</a:t>
                      </a:r>
                      <a:r>
                        <a:rPr lang="en-US" altLang="zh-CN" sz="1400" b="1" dirty="0">
                          <a:solidFill>
                            <a:srgbClr val="00396B"/>
                          </a:solidFill>
                        </a:rPr>
                        <a:t>/Latency</a:t>
                      </a:r>
                      <a:endParaRPr lang="en-CN" sz="1400" b="1" dirty="0">
                        <a:solidFill>
                          <a:srgbClr val="00396B"/>
                        </a:solidFill>
                      </a:endParaRP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 b="1" dirty="0">
                          <a:solidFill>
                            <a:srgbClr val="00396B"/>
                          </a:solidFill>
                        </a:rP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CN" sz="1400" b="1" dirty="0">
                          <a:solidFill>
                            <a:srgbClr val="0073CF"/>
                          </a:solidFill>
                        </a:rPr>
                        <a:t>Low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423708"/>
                  </a:ext>
                </a:extLst>
              </a:tr>
            </a:tbl>
          </a:graphicData>
        </a:graphic>
      </p:graphicFrame>
      <p:sp>
        <p:nvSpPr>
          <p:cNvPr id="11" name="Bilevel Box">
            <a:extLst>
              <a:ext uri="{FF2B5EF4-FFF2-40B4-BE49-F238E27FC236}">
                <a16:creationId xmlns:a16="http://schemas.microsoft.com/office/drawing/2014/main" id="{BA0E625F-F202-264B-8D4C-2991FD6B7B63}"/>
              </a:ext>
            </a:extLst>
          </p:cNvPr>
          <p:cNvSpPr txBox="1"/>
          <p:nvPr/>
        </p:nvSpPr>
        <p:spPr>
          <a:xfrm>
            <a:off x="838200" y="4572000"/>
            <a:ext cx="10515600" cy="167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00396B"/>
                </a:solidFill>
              </a:rPr>
              <a:t>Bilevel Collaboration</a:t>
            </a:r>
          </a:p>
          <a:p>
            <a:pPr marL="285750" indent="-285750" algn="l">
              <a:spcBef>
                <a:spcPts val="120"/>
              </a:spcBef>
              <a:spcAft>
                <a:spcPts val="12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Task-level — cost-efficient: </a:t>
            </a:r>
            <a:r>
              <a:rPr lang="en-US" sz="1500" dirty="0">
                <a:solidFill>
                  <a:srgbClr val="1A1A1A"/>
                </a:solidFill>
              </a:rPr>
              <a:t>route simple subtasks to small models, sparing large-model calls.</a:t>
            </a:r>
          </a:p>
          <a:p>
            <a:pPr marL="285750" indent="-285750" algn="l">
              <a:spcBef>
                <a:spcPts val="120"/>
              </a:spcBef>
              <a:spcAft>
                <a:spcPts val="200"/>
              </a:spcAft>
              <a:buFont typeface="Arial"/>
              <a:buChar char="•"/>
            </a:pPr>
            <a:r>
              <a:rPr lang="en-US" sz="1500" b="1" dirty="0">
                <a:solidFill>
                  <a:srgbClr val="1A1A1A"/>
                </a:solidFill>
              </a:rPr>
              <a:t>Token-level — token-efficient: </a:t>
            </a:r>
            <a:r>
              <a:rPr lang="en-US" sz="1500" dirty="0">
                <a:solidFill>
                  <a:srgbClr val="1A1A1A"/>
                </a:solidFill>
              </a:rPr>
              <a:t>small models draft tokens via speculative decoding, verified in one pass.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 lang="en-US" sz="1500" b="1" i="1" dirty="0">
              <a:solidFill>
                <a:srgbClr val="0073CF"/>
              </a:solidFill>
            </a:endParaRP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1" dirty="0">
                <a:solidFill>
                  <a:srgbClr val="0073CF"/>
                </a:solidFill>
              </a:rPr>
              <a:t>Unified, the two levels make end-to-end inference both cost- and token-efficient—without sacrificing quality.</a:t>
            </a:r>
          </a:p>
        </p:txBody>
      </p:sp>
    </p:spTree>
    <p:extLst>
      <p:ext uri="{BB962C8B-B14F-4D97-AF65-F5344CB8AC3E}">
        <p14:creationId xmlns:p14="http://schemas.microsoft.com/office/powerpoint/2010/main" val="2778514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2070-167E-3408-EEB2-F6ED38BCD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17037776-F042-D4D0-3477-67DA63A4240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9BD462-E1DC-1CB9-A732-6BBF69942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r>
              <a:rPr lang="en-US" sz="3200" b="1" dirty="0">
                <a:solidFill>
                  <a:srgbClr val="00396B"/>
                </a:solidFill>
              </a:rPr>
              <a:t>Project</a:t>
            </a:r>
            <a:r>
              <a:rPr lang="zh-CN" altLang="en-US" sz="3200" b="1" dirty="0">
                <a:solidFill>
                  <a:srgbClr val="00396B"/>
                </a:solidFill>
              </a:rPr>
              <a:t> </a:t>
            </a:r>
            <a:r>
              <a:rPr lang="en-US" altLang="zh-CN" sz="3200" b="1" dirty="0">
                <a:solidFill>
                  <a:srgbClr val="00396B"/>
                </a:solidFill>
              </a:rPr>
              <a:t>Plan</a:t>
            </a:r>
            <a:endParaRPr lang="en-US" sz="3200" b="1" dirty="0">
              <a:solidFill>
                <a:srgbClr val="00396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AF201-9B98-2B16-C7F0-1698DC08D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00396B"/>
                </a:solidFill>
              </a:rPr>
              <a:t>Models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b="1" dirty="0">
                <a:solidFill>
                  <a:srgbClr val="1A1A1A"/>
                </a:solidFill>
              </a:rPr>
              <a:t>Closed-source (API): </a:t>
            </a:r>
            <a:r>
              <a:rPr lang="en-US" sz="1600" dirty="0">
                <a:solidFill>
                  <a:srgbClr val="1A1A1A"/>
                </a:solidFill>
              </a:rPr>
              <a:t>Claude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b="1" dirty="0">
                <a:solidFill>
                  <a:srgbClr val="1A1A1A"/>
                </a:solidFill>
              </a:rPr>
              <a:t>Open-source: </a:t>
            </a:r>
            <a:r>
              <a:rPr lang="en-US" sz="1600" dirty="0">
                <a:solidFill>
                  <a:srgbClr val="1A1A1A"/>
                </a:solidFill>
              </a:rPr>
              <a:t>Qwen series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00396B"/>
                </a:solidFill>
              </a:rPr>
              <a:t>Tasks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b="1" dirty="0">
                <a:solidFill>
                  <a:srgbClr val="1A1A1A"/>
                </a:solidFill>
              </a:rPr>
              <a:t>Deep Search: </a:t>
            </a:r>
            <a:r>
              <a:rPr lang="en-US" sz="1600" dirty="0">
                <a:solidFill>
                  <a:srgbClr val="1A1A1A"/>
                </a:solidFill>
              </a:rPr>
              <a:t>multi-step retrieval across sources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b="1" dirty="0">
                <a:solidFill>
                  <a:srgbClr val="1A1A1A"/>
                </a:solidFill>
              </a:rPr>
              <a:t>Deep Research: </a:t>
            </a:r>
            <a:r>
              <a:rPr lang="en-US" sz="1600" dirty="0">
                <a:solidFill>
                  <a:srgbClr val="1A1A1A"/>
                </a:solidFill>
              </a:rPr>
              <a:t>synthesis of findings into structured reports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b="1" dirty="0">
                <a:solidFill>
                  <a:srgbClr val="1A1A1A"/>
                </a:solidFill>
              </a:rPr>
              <a:t>Code Generation: </a:t>
            </a:r>
            <a:r>
              <a:rPr lang="en-US" sz="1600" dirty="0">
                <a:solidFill>
                  <a:srgbClr val="1A1A1A"/>
                </a:solidFill>
              </a:rPr>
              <a:t>end-to-end code writing and execution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00396B"/>
                </a:solidFill>
              </a:rPr>
              <a:t>Metrics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b="1" dirty="0">
                <a:solidFill>
                  <a:srgbClr val="1A1A1A"/>
                </a:solidFill>
              </a:rPr>
              <a:t>Quality: </a:t>
            </a:r>
            <a:r>
              <a:rPr lang="en-US" sz="1600" dirty="0">
                <a:solidFill>
                  <a:srgbClr val="1A1A1A"/>
                </a:solidFill>
              </a:rPr>
              <a:t>task accuracy and answer correctness</a:t>
            </a:r>
          </a:p>
          <a:p>
            <a:pPr marL="342900" indent="-342900" algn="l">
              <a:spcBef>
                <a:spcPts val="300"/>
              </a:spcBef>
              <a:spcAft>
                <a:spcPts val="300"/>
              </a:spcAft>
              <a:buFont typeface="Arial"/>
              <a:buChar char="•"/>
            </a:pPr>
            <a:r>
              <a:rPr lang="en-US" sz="1600" b="1" dirty="0">
                <a:solidFill>
                  <a:srgbClr val="1A1A1A"/>
                </a:solidFill>
              </a:rPr>
              <a:t>Efficiency: </a:t>
            </a:r>
            <a:r>
              <a:rPr lang="en-US" sz="1600" dirty="0">
                <a:solidFill>
                  <a:srgbClr val="1A1A1A"/>
                </a:solidFill>
              </a:rPr>
              <a:t>token cost and latency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AF0E1-99F5-B2B8-5864-40A0EC786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6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1FEDF0BE-EA3E-F678-521A-F662C53C156B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00348D28-ADBA-B423-2122-472CBF1EF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BEEE8946-DC29-629D-73C8-6B761EF36F3D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1</a:t>
            </a:r>
          </a:p>
        </p:txBody>
      </p:sp>
    </p:spTree>
    <p:extLst>
      <p:ext uri="{BB962C8B-B14F-4D97-AF65-F5344CB8AC3E}">
        <p14:creationId xmlns:p14="http://schemas.microsoft.com/office/powerpoint/2010/main" val="1557384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52844-1A84-3109-CEB9-2F8D4EBD9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ide Band">
            <a:extLst>
              <a:ext uri="{FF2B5EF4-FFF2-40B4-BE49-F238E27FC236}">
                <a16:creationId xmlns:a16="http://schemas.microsoft.com/office/drawing/2014/main" id="{6AAEA816-A24E-7E1C-41C8-3C5F05207A40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ccent Stripe">
            <a:extLst>
              <a:ext uri="{FF2B5EF4-FFF2-40B4-BE49-F238E27FC236}">
                <a16:creationId xmlns:a16="http://schemas.microsoft.com/office/drawing/2014/main" id="{9B3EE851-4260-DA97-158F-C02334D9603A}"/>
              </a:ext>
            </a:extLst>
          </p:cNvPr>
          <p:cNvSpPr/>
          <p:nvPr/>
        </p:nvSpPr>
        <p:spPr>
          <a:xfrm>
            <a:off x="914400" y="4572000"/>
            <a:ext cx="1524000" cy="76200"/>
          </a:xfrm>
          <a:prstGeom prst="rect">
            <a:avLst/>
          </a:prstGeom>
          <a:solidFill>
            <a:srgbClr val="0073C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4C006A-B7E0-D0A9-C9D0-95CDDEAB24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489200"/>
            <a:ext cx="10414000" cy="1524000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4800" b="1" dirty="0">
                <a:solidFill>
                  <a:srgbClr val="00396B"/>
                </a:solidFill>
              </a:rPr>
              <a:t>Summer Intern Project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B097EF-8867-71FB-23A1-8807E7D857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4978400"/>
            <a:ext cx="9652000" cy="889000"/>
          </a:xfrm>
        </p:spPr>
        <p:txBody>
          <a:bodyPr anchor="ctr">
            <a:normAutofit/>
          </a:bodyPr>
          <a:lstStyle/>
          <a:p>
            <a:pPr algn="l">
              <a:buNone/>
            </a:pPr>
            <a:r>
              <a:rPr lang="en-US" sz="2200" b="1" dirty="0">
                <a:solidFill>
                  <a:srgbClr val="00396B"/>
                </a:solidFill>
              </a:rPr>
              <a:t>Quan Wei</a:t>
            </a:r>
            <a:r>
              <a:rPr lang="en-US" sz="1800" dirty="0">
                <a:solidFill>
                  <a:srgbClr val="9AA7B5"/>
                </a:solidFill>
              </a:rPr>
              <a:t>      |      </a:t>
            </a:r>
            <a:r>
              <a:rPr lang="en-US" sz="1600" dirty="0">
                <a:solidFill>
                  <a:srgbClr val="6E7B8B"/>
                </a:solidFill>
              </a:rPr>
              <a:t>Wee</a:t>
            </a:r>
            <a:r>
              <a:rPr lang="en-US" altLang="zh-CN" sz="1600" dirty="0">
                <a:solidFill>
                  <a:srgbClr val="6E7B8B"/>
                </a:solidFill>
              </a:rPr>
              <a:t>k</a:t>
            </a:r>
            <a:r>
              <a:rPr lang="zh-CN" altLang="en-US" sz="1600" dirty="0">
                <a:solidFill>
                  <a:srgbClr val="6E7B8B"/>
                </a:solidFill>
              </a:rPr>
              <a:t> </a:t>
            </a:r>
            <a:r>
              <a:rPr lang="en-US" altLang="zh-CN" sz="1600" dirty="0">
                <a:solidFill>
                  <a:srgbClr val="6E7B8B"/>
                </a:solidFill>
              </a:rPr>
              <a:t>2</a:t>
            </a:r>
            <a:endParaRPr lang="en-US" sz="1600" dirty="0">
              <a:solidFill>
                <a:srgbClr val="6E7B8B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DA901-52A8-D8B7-08DB-4AE227CC4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7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1" name="Band Label">
            <a:extLst>
              <a:ext uri="{FF2B5EF4-FFF2-40B4-BE49-F238E27FC236}">
                <a16:creationId xmlns:a16="http://schemas.microsoft.com/office/drawing/2014/main" id="{A5139BD3-DD71-C962-7FDD-3D57D020F030}"/>
              </a:ext>
            </a:extLst>
          </p:cNvPr>
          <p:cNvSpPr/>
          <p:nvPr/>
        </p:nvSpPr>
        <p:spPr>
          <a:xfrm>
            <a:off x="914400" y="21336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algn="l">
              <a:buNone/>
            </a:pPr>
            <a:r>
              <a:rPr lang="en-US" sz="1400" b="1" spc="300" dirty="0">
                <a:solidFill>
                  <a:srgbClr val="0073CF"/>
                </a:solidFill>
              </a:rPr>
              <a:t>RESEARCH INTERNSHIP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B97C0E-5BDB-6337-4FFF-C26DA51CC9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711200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682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FF716-6B78-A664-4C46-3C5977ECD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3C9D4CEF-3555-7854-1F9D-D28008C4F266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B634FB-DF64-3844-36D2-1830F63A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r>
              <a:rPr lang="en-US" sz="3200" b="1" dirty="0">
                <a:solidFill>
                  <a:srgbClr val="00396B"/>
                </a:solidFill>
              </a:rPr>
              <a:t>OrchestrateAnything: 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A2116-23F5-FE71-A642-B53DB8E4A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3810000"/>
          </a:xfrm>
        </p:spPr>
        <p:txBody>
          <a:bodyPr anchor="ctr" anchorCtr="0">
            <a:norm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600" i="1" dirty="0">
                <a:solidFill>
                  <a:srgbClr val="6E7B8B"/>
                </a:solidFill>
              </a:rPr>
              <a:t>Goal: unified orchestration of tasks, models, and resources across heterogeneous multi-agent systems.</a:t>
            </a:r>
          </a:p>
          <a:p>
            <a:pPr marL="0" indent="0" algn="l">
              <a:spcBef>
                <a:spcPts val="600"/>
              </a:spcBef>
              <a:spcAft>
                <a:spcPts val="250"/>
              </a:spcAft>
              <a:buNone/>
            </a:pPr>
            <a:r>
              <a:rPr lang="en-US" sz="1800" b="1" dirty="0">
                <a:solidFill>
                  <a:srgbClr val="0073CF"/>
                </a:solidFill>
              </a:rPr>
              <a:t>RQ1</a:t>
            </a:r>
            <a:r>
              <a:rPr lang="en-US" sz="1800" b="1" dirty="0">
                <a:solidFill>
                  <a:srgbClr val="00396B"/>
                </a:solidFill>
              </a:rPr>
              <a:t>  — Build a hierarchical MAS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Font typeface="Arial"/>
              <a:buChar char="•"/>
            </a:pPr>
            <a:r>
              <a:rPr lang="en-US" sz="1600" dirty="0">
                <a:solidFill>
                  <a:srgbClr val="3A3A3C"/>
                </a:solidFill>
              </a:rPr>
              <a:t>How can a hierarchical multi-agent system reliably complete complex tasks?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Font typeface="Arial"/>
              <a:buChar char="•"/>
            </a:pPr>
            <a:r>
              <a:rPr lang="en-US" sz="1600" b="1" dirty="0">
                <a:solidFill>
                  <a:srgbClr val="00396B"/>
                </a:solidFill>
              </a:rPr>
              <a:t>Approach: </a:t>
            </a:r>
            <a:r>
              <a:rPr lang="en-US" sz="1600" dirty="0">
                <a:solidFill>
                  <a:srgbClr val="3A3A3C"/>
                </a:solidFill>
              </a:rPr>
              <a:t>pair a centralized orchestrator with decentralized, autonomous subagents.</a:t>
            </a:r>
          </a:p>
          <a:p>
            <a:pPr marL="0" indent="0" algn="l">
              <a:spcBef>
                <a:spcPts val="600"/>
              </a:spcBef>
              <a:spcAft>
                <a:spcPts val="250"/>
              </a:spcAft>
              <a:buNone/>
            </a:pPr>
            <a:r>
              <a:rPr lang="en-US" sz="1800" b="1" dirty="0">
                <a:solidFill>
                  <a:srgbClr val="0073CF"/>
                </a:solidFill>
              </a:rPr>
              <a:t>RQ2</a:t>
            </a:r>
            <a:r>
              <a:rPr lang="en-US" sz="1800" b="1" dirty="0">
                <a:solidFill>
                  <a:srgbClr val="00396B"/>
                </a:solidFill>
              </a:rPr>
              <a:t>  — Orchestrate it efficiently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Font typeface="Arial"/>
              <a:buChar char="•"/>
            </a:pPr>
            <a:r>
              <a:rPr lang="en-US" sz="1600" dirty="0">
                <a:solidFill>
                  <a:srgbClr val="3A3A3C"/>
                </a:solidFill>
              </a:rPr>
              <a:t>Given a mixed pool of closed- and open-source models, how to stay efficient without losing accuracy?</a:t>
            </a:r>
          </a:p>
          <a:p>
            <a:pPr marL="285750" indent="-285750" algn="l">
              <a:lnSpc>
                <a:spcPct val="106000"/>
              </a:lnSpc>
              <a:spcBef>
                <a:spcPts val="100"/>
              </a:spcBef>
              <a:spcAft>
                <a:spcPts val="150"/>
              </a:spcAft>
              <a:buFont typeface="Arial"/>
              <a:buChar char="•"/>
            </a:pPr>
            <a:r>
              <a:rPr lang="en-US" sz="1600" b="1" dirty="0">
                <a:solidFill>
                  <a:srgbClr val="00396B"/>
                </a:solidFill>
              </a:rPr>
              <a:t>Approach: </a:t>
            </a:r>
            <a:r>
              <a:rPr lang="en-US" sz="1600" dirty="0">
                <a:solidFill>
                  <a:srgbClr val="3A3A3C"/>
                </a:solidFill>
              </a:rPr>
              <a:t>jointly optimize accuracy against model, token, communication, API, and latency cost.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66C49-890C-B537-243D-F46EA0E6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8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F552D167-F6C6-DD8A-C58A-E3062CB80615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4F6969E-B7D6-DB4F-3D46-0898E5231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5640A57E-3A3F-4D74-E8E3-76F0EFD6D3B0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27081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4A40B-372B-714E-76A8-A59DC9DE9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B99E0EC1-3528-97A3-8350-1CE2B1C99FE0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1D89D9-A0C0-0666-246D-AF168E24D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r>
              <a:rPr lang="en-US" sz="3200" b="1" dirty="0">
                <a:solidFill>
                  <a:srgbClr val="00396B"/>
                </a:solidFill>
              </a:rPr>
              <a:t>Hierarchical MAS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69365-C0F5-36EC-5425-548E9C108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3810000"/>
          </a:xfrm>
        </p:spPr>
        <p:txBody>
          <a:bodyPr anchor="t" anchorCtr="0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15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0396B"/>
                </a:solidFill>
              </a:rPr>
              <a:t>Agent = Model + Harness</a:t>
            </a:r>
            <a:r>
              <a:rPr lang="en-US" sz="1600" dirty="0">
                <a:solidFill>
                  <a:srgbClr val="3A3A3C"/>
                </a:solidFill>
              </a:rPr>
              <a:t>   —   model reasons; harness handles prompts, tool routing, memory, and execution.</a:t>
            </a:r>
          </a:p>
          <a:p>
            <a:pPr marL="0" indent="0" algn="l">
              <a:lnSpc>
                <a:spcPct val="100000"/>
              </a:lnSpc>
              <a:spcBef>
                <a:spcPts val="15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0396B"/>
                </a:solidFill>
              </a:rPr>
              <a:t>Agent Context = Profile + Memory + Communication + Tools</a:t>
            </a:r>
          </a:p>
          <a:p>
            <a:pPr marL="0" indent="0" algn="l">
              <a:spcBef>
                <a:spcPts val="600"/>
              </a:spcBef>
              <a:spcAft>
                <a:spcPts val="250"/>
              </a:spcAft>
              <a:buNone/>
            </a:pPr>
            <a:r>
              <a:rPr lang="en-US" sz="1800" b="1" dirty="0">
                <a:solidFill>
                  <a:srgbClr val="0073CF"/>
                </a:solidFill>
              </a:rPr>
              <a:t>Two-layer control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Font typeface="Arial"/>
              <a:buChar char="•"/>
            </a:pPr>
            <a:r>
              <a:rPr lang="en-US" sz="1600" b="1" dirty="0">
                <a:solidFill>
                  <a:srgbClr val="00396B"/>
                </a:solidFill>
              </a:rPr>
              <a:t>Centralized — </a:t>
            </a:r>
            <a:r>
              <a:rPr lang="en-US" sz="1600" dirty="0">
                <a:solidFill>
                  <a:srgbClr val="3A3A3C"/>
                </a:solidFill>
              </a:rPr>
              <a:t>orchestrator holds the global view and drives high-level decisions.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Font typeface="Arial"/>
              <a:buChar char="•"/>
            </a:pPr>
            <a:r>
              <a:rPr lang="en-US" sz="1600" b="1" dirty="0">
                <a:solidFill>
                  <a:srgbClr val="00396B"/>
                </a:solidFill>
              </a:rPr>
              <a:t>Decentralized — </a:t>
            </a:r>
            <a:r>
              <a:rPr lang="en-US" sz="1600" dirty="0">
                <a:solidFill>
                  <a:srgbClr val="3A3A3C"/>
                </a:solidFill>
              </a:rPr>
              <a:t>subagents execute locally and autonomously, without central intervention.</a:t>
            </a:r>
          </a:p>
          <a:p>
            <a:pPr marL="0" indent="0" algn="l">
              <a:spcBef>
                <a:spcPts val="700"/>
              </a:spcBef>
              <a:spcAft>
                <a:spcPts val="250"/>
              </a:spcAft>
              <a:buNone/>
            </a:pPr>
            <a:r>
              <a:rPr lang="en-US" sz="1800" b="1" dirty="0">
                <a:solidFill>
                  <a:srgbClr val="0073CF"/>
                </a:solidFill>
              </a:rPr>
              <a:t>Subagent roles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Font typeface="Arial"/>
              <a:buChar char="•"/>
            </a:pPr>
            <a:r>
              <a:rPr lang="en-US" sz="1600" b="1" dirty="0">
                <a:solidFill>
                  <a:srgbClr val="00396B"/>
                </a:solidFill>
              </a:rPr>
              <a:t>Executor — </a:t>
            </a:r>
            <a:r>
              <a:rPr lang="en-US" sz="1600" dirty="0">
                <a:solidFill>
                  <a:srgbClr val="3A3A3C"/>
                </a:solidFill>
              </a:rPr>
              <a:t>carries out assigned subtasks.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Font typeface="Arial"/>
              <a:buChar char="•"/>
            </a:pPr>
            <a:r>
              <a:rPr lang="en-US" sz="1600" b="1" dirty="0">
                <a:solidFill>
                  <a:srgbClr val="00396B"/>
                </a:solidFill>
              </a:rPr>
              <a:t>Verifier — </a:t>
            </a:r>
            <a:r>
              <a:rPr lang="en-US" sz="1600" dirty="0">
                <a:solidFill>
                  <a:srgbClr val="3A3A3C"/>
                </a:solidFill>
              </a:rPr>
              <a:t>validates outputs for correctness.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Font typeface="Arial"/>
              <a:buChar char="•"/>
            </a:pPr>
            <a:r>
              <a:rPr lang="en-US" sz="1600" b="1" dirty="0">
                <a:solidFill>
                  <a:srgbClr val="00396B"/>
                </a:solidFill>
              </a:rPr>
              <a:t>Responder — </a:t>
            </a:r>
            <a:r>
              <a:rPr lang="en-US" sz="1600" dirty="0">
                <a:solidFill>
                  <a:srgbClr val="3A3A3C"/>
                </a:solidFill>
              </a:rPr>
              <a:t>synthesizes and delivers the final response.</a:t>
            </a:r>
          </a:p>
          <a:p>
            <a:pPr marL="285750" indent="-285750" algn="l">
              <a:lnSpc>
                <a:spcPct val="104000"/>
              </a:lnSpc>
              <a:spcBef>
                <a:spcPts val="80"/>
              </a:spcBef>
              <a:spcAft>
                <a:spcPts val="120"/>
              </a:spcAft>
              <a:buFont typeface="Arial"/>
              <a:buChar char="•"/>
            </a:pPr>
            <a:r>
              <a:rPr lang="en-US" sz="1600" b="1" dirty="0">
                <a:solidFill>
                  <a:srgbClr val="00396B"/>
                </a:solidFill>
              </a:rPr>
              <a:t>Memory Manager — </a:t>
            </a:r>
            <a:r>
              <a:rPr lang="en-US" sz="1600" dirty="0">
                <a:solidFill>
                  <a:srgbClr val="3A3A3C"/>
                </a:solidFill>
              </a:rPr>
              <a:t>maintains persistent and working memory.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4D31A-3DB6-0A13-A758-D19C66D29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9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822F9242-BFFF-3D7B-B19C-4254BFC9269E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E15F3D7-0092-B24A-8DAA-DD6B47A29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82B5A17A-0CCB-F44B-1566-C78A9E50B8CF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5522958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D2A01-C805-89C4-FE86-4736CB820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8120D02C-6AB4-F46D-729E-F63B9791E97A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2A9FB5-B9B5-0D0A-0FF8-5D0E2D8DA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r>
              <a:rPr lang="en-US" sz="3200" b="1" dirty="0">
                <a:solidFill>
                  <a:srgbClr val="00396B"/>
                </a:solidFill>
              </a:rPr>
              <a:t>Orchestrator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1FF6C-C3DD-1C88-260A-36C216ACC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7600"/>
            <a:ext cx="10515600" cy="3810000"/>
          </a:xfrm>
        </p:spPr>
        <p:txBody>
          <a:bodyPr anchor="ctr" anchorCtr="0">
            <a:norm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6E7B8B"/>
                </a:solidFill>
              </a:rPr>
              <a:t>The orchestrator coordinates the system across three levels.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Font typeface="Arial"/>
              <a:buChar char="•"/>
            </a:pPr>
            <a:r>
              <a:rPr lang="en-US" sz="1600" b="1" dirty="0">
                <a:solidFill>
                  <a:srgbClr val="00396B"/>
                </a:solidFill>
              </a:rPr>
              <a:t>Task orchestration — </a:t>
            </a:r>
            <a:r>
              <a:rPr lang="en-US" sz="1600" dirty="0">
                <a:solidFill>
                  <a:srgbClr val="3A3A3C"/>
                </a:solidFill>
              </a:rPr>
              <a:t>decompose the input into a subtask DAG and assign subtasks to subagents.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Font typeface="Arial"/>
              <a:buChar char="•"/>
            </a:pPr>
            <a:r>
              <a:rPr lang="en-US" sz="1600" b="1" dirty="0">
                <a:solidFill>
                  <a:srgbClr val="00396B"/>
                </a:solidFill>
              </a:rPr>
              <a:t>Model orchestration — </a:t>
            </a:r>
            <a:r>
              <a:rPr lang="en-US" sz="1600" dirty="0">
                <a:solidFill>
                  <a:srgbClr val="3A3A3C"/>
                </a:solidFill>
              </a:rPr>
              <a:t>match each subagent to a model based on task demands and model capability.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Font typeface="Arial"/>
              <a:buChar char="•"/>
            </a:pPr>
            <a:r>
              <a:rPr lang="en-US" sz="1600" b="1" dirty="0">
                <a:solidFill>
                  <a:srgbClr val="00396B"/>
                </a:solidFill>
              </a:rPr>
              <a:t>Resource orchestration — </a:t>
            </a:r>
            <a:r>
              <a:rPr lang="en-US" sz="1600" dirty="0">
                <a:solidFill>
                  <a:srgbClr val="3A3A3C"/>
                </a:solidFill>
              </a:rPr>
              <a:t>govern shared memory and communication channels for coordinated execution.</a:t>
            </a:r>
          </a:p>
          <a:p>
            <a:pPr marL="0" indent="0" algn="l">
              <a:spcBef>
                <a:spcPts val="900"/>
              </a:spcBef>
              <a:spcAft>
                <a:spcPts val="250"/>
              </a:spcAft>
              <a:buNone/>
            </a:pPr>
            <a:r>
              <a:rPr lang="en-US" sz="1800" b="1" dirty="0">
                <a:solidFill>
                  <a:srgbClr val="0073CF"/>
                </a:solidFill>
              </a:rPr>
              <a:t>Why it matters</a:t>
            </a:r>
          </a:p>
          <a:p>
            <a:pPr marL="285750" indent="-285750" algn="l">
              <a:lnSpc>
                <a:spcPct val="106000"/>
              </a:lnSpc>
              <a:spcBef>
                <a:spcPts val="120"/>
              </a:spcBef>
              <a:spcAft>
                <a:spcPts val="200"/>
              </a:spcAft>
              <a:buFont typeface="Arial"/>
              <a:buChar char="•"/>
            </a:pPr>
            <a:r>
              <a:rPr lang="en-US" sz="1600" dirty="0">
                <a:solidFill>
                  <a:srgbClr val="3A3A3C"/>
                </a:solidFill>
              </a:rPr>
              <a:t>Prior work covers task and model orchestration; </a:t>
            </a:r>
            <a:r>
              <a:rPr lang="en-US" sz="1600" b="1" dirty="0">
                <a:solidFill>
                  <a:srgbClr val="00396B"/>
                </a:solidFill>
              </a:rPr>
              <a:t>resource orchestration is the gap we target.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D1ED76-F6D7-A61B-11DD-4AE45BFF4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10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4A2B0E84-C141-4C5F-333F-D3C04C3195A7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1AF6E5B8-18A0-7B6C-D54E-461A0F812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8C9BA624-0AC7-5B31-287F-E60FC337C4C7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2798204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8F57F-7B6D-77CA-0416-E62BAF6D8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B21E1795-6626-C8D2-ACB7-02312CFDB57D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FB3D32-4AD5-0E86-4DA1-2B0A464DE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r>
              <a:rPr lang="en-US" sz="3200" b="1" dirty="0">
                <a:solidFill>
                  <a:srgbClr val="00396B"/>
                </a:solidFill>
              </a:rPr>
              <a:t>Efficiency: Costs &amp; Resource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C84AA-C467-47CA-C1DC-EEE64CBB1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50"/>
              </a:spcAft>
              <a:buNone/>
            </a:pPr>
            <a:r>
              <a:rPr lang="en-US" sz="1700" b="1" dirty="0">
                <a:solidFill>
                  <a:srgbClr val="0073CF"/>
                </a:solidFill>
              </a:rPr>
              <a:t>Five cost dimensions to optimize jointly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Font typeface="Arial"/>
              <a:buChar char="•"/>
            </a:pPr>
            <a:r>
              <a:rPr lang="en-US" sz="1500" b="1" dirty="0">
                <a:solidFill>
                  <a:srgbClr val="00396B"/>
                </a:solidFill>
              </a:rPr>
              <a:t>Model — </a:t>
            </a:r>
            <a:r>
              <a:rPr lang="en-US" sz="1500" dirty="0">
                <a:solidFill>
                  <a:srgbClr val="3A3A3C"/>
                </a:solidFill>
              </a:rPr>
              <a:t>scales with tier: closed-source &gt; open large &gt; open small.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Font typeface="Arial"/>
              <a:buChar char="•"/>
            </a:pPr>
            <a:r>
              <a:rPr lang="en-US" sz="1500" b="1" dirty="0">
                <a:solidFill>
                  <a:srgbClr val="00396B"/>
                </a:solidFill>
              </a:rPr>
              <a:t>Token — </a:t>
            </a:r>
            <a:r>
              <a:rPr lang="en-US" sz="1500" dirty="0">
                <a:solidFill>
                  <a:srgbClr val="3A3A3C"/>
                </a:solidFill>
              </a:rPr>
              <a:t>scales with prompt and completion tokens per call.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Font typeface="Arial"/>
              <a:buChar char="•"/>
            </a:pPr>
            <a:r>
              <a:rPr lang="en-US" sz="1500" b="1" dirty="0">
                <a:solidFill>
                  <a:srgbClr val="00396B"/>
                </a:solidFill>
              </a:rPr>
              <a:t>Communication — </a:t>
            </a:r>
            <a:r>
              <a:rPr lang="en-US" sz="1500" dirty="0">
                <a:solidFill>
                  <a:srgbClr val="3A3A3C"/>
                </a:solidFill>
              </a:rPr>
              <a:t>message frequency and payload size between agents.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Font typeface="Arial"/>
              <a:buChar char="•"/>
            </a:pPr>
            <a:r>
              <a:rPr lang="en-US" sz="1500" b="1" dirty="0">
                <a:solidFill>
                  <a:srgbClr val="00396B"/>
                </a:solidFill>
              </a:rPr>
              <a:t>API — </a:t>
            </a:r>
            <a:r>
              <a:rPr lang="en-US" sz="1500" dirty="0">
                <a:solidFill>
                  <a:srgbClr val="3A3A3C"/>
                </a:solidFill>
              </a:rPr>
              <a:t>each tool call (retrieval, code execution) adds cost.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Font typeface="Arial"/>
              <a:buChar char="•"/>
            </a:pPr>
            <a:r>
              <a:rPr lang="en-US" sz="1500" b="1" dirty="0">
                <a:solidFill>
                  <a:srgbClr val="00396B"/>
                </a:solidFill>
              </a:rPr>
              <a:t>Latency — </a:t>
            </a:r>
            <a:r>
              <a:rPr lang="en-US" sz="1500" dirty="0">
                <a:solidFill>
                  <a:srgbClr val="3A3A3C"/>
                </a:solidFill>
              </a:rPr>
              <a:t>delay from inference and inter-agent messaging.</a:t>
            </a:r>
          </a:p>
          <a:p>
            <a:pPr marL="0" indent="0" algn="l">
              <a:spcBef>
                <a:spcPts val="800"/>
              </a:spcBef>
              <a:spcAft>
                <a:spcPts val="250"/>
              </a:spcAft>
              <a:buNone/>
            </a:pPr>
            <a:r>
              <a:rPr lang="en-US" sz="1700" b="1" dirty="0">
                <a:solidFill>
                  <a:srgbClr val="0073CF"/>
                </a:solidFill>
              </a:rPr>
              <a:t>Three allocation levers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Font typeface="Arial"/>
              <a:buChar char="•"/>
            </a:pPr>
            <a:r>
              <a:rPr lang="en-US" sz="1500" b="1" dirty="0">
                <a:solidFill>
                  <a:srgbClr val="00396B"/>
                </a:solidFill>
              </a:rPr>
              <a:t>Model allocation — </a:t>
            </a:r>
            <a:r>
              <a:rPr lang="en-US" sz="1500" dirty="0">
                <a:solidFill>
                  <a:srgbClr val="3A3A3C"/>
                </a:solidFill>
              </a:rPr>
              <a:t>which model runs each subtask; controls model cost &amp; accuracy.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Font typeface="Arial"/>
              <a:buChar char="•"/>
            </a:pPr>
            <a:r>
              <a:rPr lang="en-US" sz="1500" b="1" dirty="0">
                <a:solidFill>
                  <a:srgbClr val="00396B"/>
                </a:solidFill>
              </a:rPr>
              <a:t>Token allocation — </a:t>
            </a:r>
            <a:r>
              <a:rPr lang="en-US" sz="1500" dirty="0">
                <a:solidFill>
                  <a:srgbClr val="3A3A3C"/>
                </a:solidFill>
              </a:rPr>
              <a:t>budget per agent or subtask; controls token cost.</a:t>
            </a:r>
          </a:p>
          <a:p>
            <a:pPr marL="285750" indent="-285750" algn="l">
              <a:lnSpc>
                <a:spcPct val="104000"/>
              </a:lnSpc>
              <a:spcBef>
                <a:spcPts val="100"/>
              </a:spcBef>
              <a:spcAft>
                <a:spcPts val="160"/>
              </a:spcAft>
              <a:buFont typeface="Arial"/>
              <a:buChar char="•"/>
            </a:pPr>
            <a:r>
              <a:rPr lang="en-US" sz="1500" b="1" dirty="0">
                <a:solidFill>
                  <a:srgbClr val="00396B"/>
                </a:solidFill>
              </a:rPr>
              <a:t>Communication allocation — </a:t>
            </a:r>
            <a:r>
              <a:rPr lang="en-US" sz="1500" dirty="0">
                <a:solidFill>
                  <a:srgbClr val="3A3A3C"/>
                </a:solidFill>
              </a:rPr>
              <a:t>routing and frequency; controls comm and latency cost.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4744B-6558-CD84-EBBE-8048A84C1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11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AF2EFD33-8926-DC84-B531-0C05793A3F9F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10F56977-2791-E200-8E56-59046F20D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9B3DD55C-A236-F124-F6EE-355FBE441AFB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</p:spTree>
    <p:extLst>
      <p:ext uri="{BB962C8B-B14F-4D97-AF65-F5344CB8AC3E}">
        <p14:creationId xmlns:p14="http://schemas.microsoft.com/office/powerpoint/2010/main" val="4216221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B8982-4435-BFA1-D40B-2079FDB93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CD2C8233-A9CC-0441-BDE6-F3D112A2F4B0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058B8F-21E6-5F36-3572-68C78BA75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r>
              <a:rPr lang="en-US" sz="3200" b="1" dirty="0">
                <a:solidFill>
                  <a:srgbClr val="00396B"/>
                </a:solidFill>
              </a:rPr>
              <a:t>Experimental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B918F-784C-1E1A-F9FB-F47ABE5CB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89200"/>
            <a:ext cx="5029200" cy="3429000"/>
          </a:xfrm>
        </p:spPr>
        <p:txBody>
          <a:bodyPr anchor="t" anchorCtr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073CF"/>
                </a:solidFill>
              </a:rPr>
              <a:t>Baselines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Single agent — </a:t>
            </a:r>
            <a:r>
              <a:rPr lang="en-US" sz="1400" dirty="0">
                <a:solidFill>
                  <a:srgbClr val="3A3A3C"/>
                </a:solidFill>
              </a:rPr>
              <a:t>one model, no decomposition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Homogeneous MAS — </a:t>
            </a:r>
            <a:r>
              <a:rPr lang="en-US" sz="1400" dirty="0">
                <a:solidFill>
                  <a:srgbClr val="3A3A3C"/>
                </a:solidFill>
              </a:rPr>
              <a:t>AgentFlow, AORCHESTRA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Heterogeneous MAS — </a:t>
            </a:r>
            <a:r>
              <a:rPr lang="en-US" sz="1400" dirty="0">
                <a:solidFill>
                  <a:srgbClr val="3A3A3C"/>
                </a:solidFill>
              </a:rPr>
              <a:t>MAS-Orchestra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Public vs. Ours — </a:t>
            </a:r>
            <a:r>
              <a:rPr lang="en-US" sz="1400" dirty="0">
                <a:solidFill>
                  <a:srgbClr val="3A3A3C"/>
                </a:solidFill>
              </a:rPr>
              <a:t>pre-trained vs. trained</a:t>
            </a:r>
          </a:p>
          <a:p>
            <a:pPr marL="0" indent="0" algn="l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073CF"/>
                </a:solidFill>
              </a:rPr>
              <a:t>Model pool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Closed-source — </a:t>
            </a:r>
            <a:r>
              <a:rPr lang="en-US" sz="1400" dirty="0">
                <a:solidFill>
                  <a:srgbClr val="3A3A3C"/>
                </a:solidFill>
              </a:rPr>
              <a:t>Claude, GPT, Gemini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Open-source — </a:t>
            </a:r>
            <a:r>
              <a:rPr lang="en-US" sz="1400" dirty="0">
                <a:solidFill>
                  <a:srgbClr val="3A3A3C"/>
                </a:solidFill>
              </a:rPr>
              <a:t>gpt-oss-120B / 20B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Task-specific — </a:t>
            </a:r>
            <a:r>
              <a:rPr lang="en-US" sz="1400" dirty="0">
                <a:solidFill>
                  <a:srgbClr val="3A3A3C"/>
                </a:solidFill>
              </a:rPr>
              <a:t>CodeLlama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B8EB81-3AE2-EACC-AB7F-E845DCFC5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12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47E7542B-EF94-D00E-07E5-A560F2B92E62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D326D1E3-63F4-65D5-3525-EF5578C28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E6A38FE1-CEAF-8F5B-CE3F-4AC7DF63EE51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2</a:t>
            </a:r>
          </a:p>
        </p:txBody>
      </p:sp>
      <p:sp>
        <p:nvSpPr>
          <p:cNvPr id="8" name="RightCol">
            <a:extLst>
              <a:ext uri="{FF2B5EF4-FFF2-40B4-BE49-F238E27FC236}">
                <a16:creationId xmlns:a16="http://schemas.microsoft.com/office/drawing/2014/main" id="{AB2A035E-6DFF-A442-BE79-65774EBAF4CB}"/>
              </a:ext>
            </a:extLst>
          </p:cNvPr>
          <p:cNvSpPr txBox="1"/>
          <p:nvPr/>
        </p:nvSpPr>
        <p:spPr>
          <a:xfrm>
            <a:off x="6172200" y="2489200"/>
            <a:ext cx="5181600" cy="3429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073CF"/>
                </a:solidFill>
              </a:rPr>
              <a:t>Tasks &amp; datasets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Search — </a:t>
            </a:r>
            <a:r>
              <a:rPr lang="en-US" sz="1400" dirty="0">
                <a:solidFill>
                  <a:srgbClr val="3A3A3C"/>
                </a:solidFill>
              </a:rPr>
              <a:t>HotpotQA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Deep research — </a:t>
            </a:r>
            <a:r>
              <a:rPr lang="en-US" sz="1400" dirty="0">
                <a:solidFill>
                  <a:srgbClr val="3A3A3C"/>
                </a:solidFill>
              </a:rPr>
              <a:t>GAIA, BrowseComp+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Math — </a:t>
            </a:r>
            <a:r>
              <a:rPr lang="en-US" sz="1400" dirty="0">
                <a:solidFill>
                  <a:srgbClr val="3A3A3C"/>
                </a:solidFill>
              </a:rPr>
              <a:t>AIME, AMC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Science — </a:t>
            </a:r>
            <a:r>
              <a:rPr lang="en-US" sz="1400" dirty="0">
                <a:solidFill>
                  <a:srgbClr val="3A3A3C"/>
                </a:solidFill>
              </a:rPr>
              <a:t>GPQA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Code — </a:t>
            </a:r>
            <a:r>
              <a:rPr lang="en-US" sz="1400" dirty="0">
                <a:solidFill>
                  <a:srgbClr val="3A3A3C"/>
                </a:solidFill>
              </a:rPr>
              <a:t>SWE-bench, Terminal-bench</a:t>
            </a:r>
          </a:p>
          <a:p>
            <a:pPr marL="0" indent="0" algn="l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073CF"/>
                </a:solidFill>
              </a:rPr>
              <a:t>Metrics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Accuracy — </a:t>
            </a:r>
            <a:r>
              <a:rPr lang="en-US" sz="1400" dirty="0">
                <a:solidFill>
                  <a:srgbClr val="3A3A3C"/>
                </a:solidFill>
              </a:rPr>
              <a:t>task completion quality</a:t>
            </a:r>
          </a:p>
          <a:p>
            <a:pPr marL="228600" indent="-228600" algn="l">
              <a:lnSpc>
                <a:spcPct val="104000"/>
              </a:lnSpc>
              <a:spcBef>
                <a:spcPts val="100"/>
              </a:spcBef>
              <a:spcAft>
                <a:spcPts val="140"/>
              </a:spcAft>
              <a:buFont typeface="Arial"/>
              <a:buChar char="•"/>
            </a:pPr>
            <a:r>
              <a:rPr lang="en-US" sz="1400" b="1" dirty="0">
                <a:solidFill>
                  <a:srgbClr val="00396B"/>
                </a:solidFill>
              </a:rPr>
              <a:t>Cost — </a:t>
            </a:r>
            <a:r>
              <a:rPr lang="en-US" sz="1400" dirty="0">
                <a:solidFill>
                  <a:srgbClr val="3A3A3C"/>
                </a:solidFill>
              </a:rPr>
              <a:t>model + token + communication</a:t>
            </a:r>
          </a:p>
        </p:txBody>
      </p:sp>
      <p:sp>
        <p:nvSpPr>
          <p:cNvPr id="9" name="References">
            <a:extLst>
              <a:ext uri="{FF2B5EF4-FFF2-40B4-BE49-F238E27FC236}">
                <a16:creationId xmlns:a16="http://schemas.microsoft.com/office/drawing/2014/main" id="{7D303B13-3751-6F41-9785-B7A3AACBBBAE}"/>
              </a:ext>
            </a:extLst>
          </p:cNvPr>
          <p:cNvSpPr txBox="1"/>
          <p:nvPr/>
        </p:nvSpPr>
        <p:spPr>
          <a:xfrm>
            <a:off x="838200" y="5969000"/>
            <a:ext cx="10515600" cy="330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AA7B5"/>
                </a:solidFill>
              </a:rPr>
              <a:t>References:  </a:t>
            </a:r>
            <a:r>
              <a:rPr lang="en-US" sz="1100" b="1" u="sng" dirty="0" err="1">
                <a:solidFill>
                  <a:srgbClr val="0073CF"/>
                </a:solidFill>
              </a:rPr>
              <a:t>AgentFlow</a:t>
            </a:r>
            <a:r>
              <a:rPr lang="en-US" sz="1100" b="1" dirty="0">
                <a:solidFill>
                  <a:srgbClr val="9AA7B5"/>
                </a:solidFill>
              </a:rPr>
              <a:t>    ·    </a:t>
            </a:r>
            <a:r>
              <a:rPr lang="en-US" sz="1100" b="1" u="sng" dirty="0">
                <a:solidFill>
                  <a:srgbClr val="0073CF"/>
                </a:solidFill>
              </a:rPr>
              <a:t>AORCHESTRA</a:t>
            </a:r>
            <a:r>
              <a:rPr lang="en-US" sz="1100" b="1" dirty="0">
                <a:solidFill>
                  <a:srgbClr val="9AA7B5"/>
                </a:solidFill>
              </a:rPr>
              <a:t>    ·    </a:t>
            </a:r>
            <a:r>
              <a:rPr lang="en-US" sz="1100" b="1" u="sng" dirty="0">
                <a:solidFill>
                  <a:srgbClr val="0073CF"/>
                </a:solidFill>
              </a:rPr>
              <a:t>MAS-Orchestra</a:t>
            </a:r>
            <a:endParaRPr lang="en-US" sz="1100" dirty="0">
              <a:solidFill>
                <a:srgbClr val="9AA7B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4207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9A8B-44F5-3D21-3273-F7F84498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Bar">
            <a:extLst>
              <a:ext uri="{FF2B5EF4-FFF2-40B4-BE49-F238E27FC236}">
                <a16:creationId xmlns:a16="http://schemas.microsoft.com/office/drawing/2014/main" id="{5341933F-002B-EA81-F176-3616706947C7}"/>
              </a:ext>
            </a:extLst>
          </p:cNvPr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00396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07CFA4-C473-EE7D-60A7-A56E11483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7000"/>
            <a:ext cx="10515600" cy="711200"/>
          </a:xfrm>
        </p:spPr>
        <p:txBody>
          <a:bodyPr anchor="t" anchorCtr="0"/>
          <a:lstStyle/>
          <a:p>
            <a:r>
              <a:rPr lang="en-US" sz="3200" b="1" dirty="0">
                <a:solidFill>
                  <a:srgbClr val="00396B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78B36-AE0A-D38E-AB83-BADE92097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3657600"/>
          </a:xfrm>
        </p:spPr>
        <p:txBody>
          <a:bodyPr anchor="ctr" anchorCtr="0">
            <a:normAutofit/>
          </a:bodyPr>
          <a:lstStyle/>
          <a:p>
            <a:pPr marL="400050" indent="-40005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Font typeface="Arial"/>
              <a:buAutoNum type="arabicPeriod"/>
            </a:pPr>
            <a:r>
              <a:rPr lang="en-US" sz="1600" b="1" dirty="0">
                <a:solidFill>
                  <a:srgbClr val="00396B"/>
                </a:solidFill>
              </a:rPr>
              <a:t>AgentFlow  </a:t>
            </a:r>
            <a:r>
              <a:rPr lang="en-US" sz="1600" dirty="0">
                <a:solidFill>
                  <a:srgbClr val="3A3A3C"/>
                </a:solidFill>
              </a:rPr>
              <a:t>In-the-Flow Agentic System Optimization for Effective Planning and Tool Use.  </a:t>
            </a:r>
            <a:r>
              <a:rPr lang="en-US" sz="1600" i="1" dirty="0">
                <a:solidFill>
                  <a:srgbClr val="6E7B8B"/>
                </a:solidFill>
              </a:rPr>
              <a:t>arXiv:2510.05592, 2025.</a:t>
            </a:r>
          </a:p>
          <a:p>
            <a:pPr marL="400050" indent="-40005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Font typeface="Arial"/>
              <a:buAutoNum type="arabicPeriod"/>
            </a:pPr>
            <a:r>
              <a:rPr lang="en-US" sz="1600" b="1" dirty="0">
                <a:solidFill>
                  <a:srgbClr val="00396B"/>
                </a:solidFill>
              </a:rPr>
              <a:t>AORCHESTRA  </a:t>
            </a:r>
            <a:r>
              <a:rPr lang="en-US" sz="1600" dirty="0">
                <a:solidFill>
                  <a:srgbClr val="3A3A3C"/>
                </a:solidFill>
              </a:rPr>
              <a:t>AOrchestra: Automating Sub-Agent Creation for Agentic Orchestration.  </a:t>
            </a:r>
            <a:r>
              <a:rPr lang="en-US" sz="1600" i="1" dirty="0">
                <a:solidFill>
                  <a:srgbClr val="6E7B8B"/>
                </a:solidFill>
              </a:rPr>
              <a:t>arXiv:2602.03786, 2026.</a:t>
            </a:r>
          </a:p>
          <a:p>
            <a:pPr marL="400050" indent="-400050" algn="l">
              <a:lnSpc>
                <a:spcPct val="108000"/>
              </a:lnSpc>
              <a:spcBef>
                <a:spcPts val="600"/>
              </a:spcBef>
              <a:spcAft>
                <a:spcPts val="900"/>
              </a:spcAft>
              <a:buFont typeface="Arial"/>
              <a:buAutoNum type="arabicPeriod"/>
            </a:pPr>
            <a:r>
              <a:rPr lang="en-US" sz="1600" b="1" dirty="0">
                <a:solidFill>
                  <a:srgbClr val="00396B"/>
                </a:solidFill>
              </a:rPr>
              <a:t>MAS-Orchestra  </a:t>
            </a:r>
            <a:r>
              <a:rPr lang="en-US" sz="1600" dirty="0">
                <a:solidFill>
                  <a:srgbClr val="3A3A3C"/>
                </a:solidFill>
              </a:rPr>
              <a:t>Understanding and Improving Multi-Agent Reasoning Through Holistic Orchestration and Controlled Benchmarks.  </a:t>
            </a:r>
            <a:r>
              <a:rPr lang="en-US" sz="1600" i="1" dirty="0">
                <a:solidFill>
                  <a:srgbClr val="6E7B8B"/>
                </a:solidFill>
              </a:rPr>
              <a:t>arXiv:2601.14652, 2026.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911C5-A231-2935-6CF4-C8E6CCF51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10800" y="6451600"/>
            <a:ext cx="1524000" cy="304800"/>
          </a:xfrm>
        </p:spPr>
        <p:txBody>
          <a:bodyPr anchor="ctr" anchorCtr="0"/>
          <a:lstStyle/>
          <a:p>
            <a:fld id="{FC0A7A6B-4B1F-5446-A3A1-99DEB5EA7F81}" type="slidenum">
              <a:rPr lang="en-CN" smtClean="0">
                <a:solidFill>
                  <a:srgbClr val="9AA7B5"/>
                </a:solidFill>
              </a:rPr>
              <a:t>13</a:t>
            </a:fld>
            <a:endParaRPr lang="en-CN">
              <a:solidFill>
                <a:srgbClr val="9AA7B5"/>
              </a:solidFill>
            </a:endParaRPr>
          </a:p>
        </p:txBody>
      </p:sp>
      <p:sp>
        <p:nvSpPr>
          <p:cNvPr id="6" name="Accent Rule">
            <a:extLst>
              <a:ext uri="{FF2B5EF4-FFF2-40B4-BE49-F238E27FC236}">
                <a16:creationId xmlns:a16="http://schemas.microsoft.com/office/drawing/2014/main" id="{B3E5C5B5-68FB-DD6B-E562-BD23A5B3FE47}"/>
              </a:ext>
            </a:extLst>
          </p:cNvPr>
          <p:cNvSpPr/>
          <p:nvPr/>
        </p:nvSpPr>
        <p:spPr>
          <a:xfrm>
            <a:off x="838200" y="2209800"/>
            <a:ext cx="1524000" cy="76200"/>
          </a:xfrm>
          <a:prstGeom prst="rect">
            <a:avLst/>
          </a:prstGeom>
          <a:solidFill>
            <a:srgbClr val="0073C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pic>
        <p:nvPicPr>
          <p:cNvPr id="7" name="Copied Picture 7">
            <a:extLst>
              <a:ext uri="{FF2B5EF4-FFF2-40B4-BE49-F238E27FC236}">
                <a16:creationId xmlns:a16="http://schemas.microsoft.com/office/drawing/2014/main" id="{411AA0B4-19AE-C9F9-1EC1-74CE17208D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08000"/>
            <a:ext cx="762000" cy="762000"/>
          </a:xfrm>
          <a:prstGeom prst="rect">
            <a:avLst/>
          </a:prstGeom>
        </p:spPr>
      </p:pic>
      <p:sp>
        <p:nvSpPr>
          <p:cNvPr id="10" name="Footer Name">
            <a:extLst>
              <a:ext uri="{FF2B5EF4-FFF2-40B4-BE49-F238E27FC236}">
                <a16:creationId xmlns:a16="http://schemas.microsoft.com/office/drawing/2014/main" id="{10F430A3-570D-D19B-5FA8-40674FA2F7FF}"/>
              </a:ext>
            </a:extLst>
          </p:cNvPr>
          <p:cNvSpPr txBox="1"/>
          <p:nvPr/>
        </p:nvSpPr>
        <p:spPr>
          <a:xfrm>
            <a:off x="838200" y="6350000"/>
            <a:ext cx="5080000" cy="5080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>
              <a:buNone/>
            </a:pPr>
            <a:r>
              <a:rPr lang="en-US" sz="1400" b="1" spc="200" dirty="0">
                <a:solidFill>
                  <a:srgbClr val="FFFFFF"/>
                </a:solidFill>
              </a:rPr>
              <a:t>Quan Wei</a:t>
            </a:r>
            <a:r>
              <a:rPr lang="en-US" sz="1400" b="1" spc="200" dirty="0">
                <a:solidFill>
                  <a:srgbClr val="9AA7B5"/>
                </a:solidFill>
              </a:rPr>
              <a:t>   |   </a:t>
            </a:r>
            <a:r>
              <a:rPr lang="en-US" sz="1400" b="1" spc="200" dirty="0">
                <a:solidFill>
                  <a:srgbClr val="FFFFFF"/>
                </a:solidFill>
              </a:rPr>
              <a:t>WEEK </a:t>
            </a:r>
            <a:r>
              <a:rPr lang="en-US" altLang="zh-CN" sz="1400" b="1" spc="200" dirty="0">
                <a:solidFill>
                  <a:srgbClr val="FFFFFF"/>
                </a:solidFill>
              </a:rPr>
              <a:t>2</a:t>
            </a:r>
            <a:endParaRPr lang="en-US" sz="1400" b="1" spc="2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5272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0542383111]">
  <a:themeElements>
    <a:clrScheme name="Office">
      <a:dk1>
        <a:srgbClr val="1A1A1A"/>
      </a:dk1>
      <a:lt1>
        <a:srgbClr val="FFFFFF"/>
      </a:lt1>
      <a:dk2>
        <a:srgbClr val="3A3A3C"/>
      </a:dk2>
      <a:lt2>
        <a:srgbClr val="EEF2F6"/>
      </a:lt2>
      <a:accent1>
        <a:srgbClr val="0073CF"/>
      </a:accent1>
      <a:accent2>
        <a:srgbClr val="00A0DF"/>
      </a:accent2>
      <a:accent3>
        <a:srgbClr val="3A3A3C"/>
      </a:accent3>
      <a:accent4>
        <a:srgbClr val="6E7B8B"/>
      </a:accent4>
      <a:accent5>
        <a:srgbClr val="5B7DB1"/>
      </a:accent5>
      <a:accent6>
        <a:srgbClr val="9AA7B5"/>
      </a:accent6>
      <a:hlink>
        <a:srgbClr val="0563C1"/>
      </a:hlink>
      <a:folHlink>
        <a:srgbClr val="954F72"/>
      </a:folHlink>
    </a:clrScheme>
    <a:fontScheme name="Office">
      <a:majorFont>
        <a:latin typeface="Georgia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04FAC70-4C29-F645-B172-CD84F456C558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86c7c018-4ea0-4a66-8684-02b9c0ceba5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860</Words>
  <Application>Microsoft Macintosh PowerPoint</Application>
  <PresentationFormat>Widescreen</PresentationFormat>
  <Paragraphs>131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Georgia</vt:lpstr>
      <vt:lpstr>Office Theme [1780542383111]</vt:lpstr>
      <vt:lpstr>PowerPoint Presentation</vt:lpstr>
      <vt:lpstr>Summer Intern Project Update</vt:lpstr>
      <vt:lpstr>Summer Intern Project Update</vt:lpstr>
      <vt:lpstr>Project Overview</vt:lpstr>
      <vt:lpstr>Project Proposal</vt:lpstr>
      <vt:lpstr>Project Plan</vt:lpstr>
      <vt:lpstr>Summer Intern Project Update</vt:lpstr>
      <vt:lpstr>OrchestrateAnything: Project Overview</vt:lpstr>
      <vt:lpstr>Hierarchical MAS Architecture</vt:lpstr>
      <vt:lpstr>Orchestrator Responsibilities</vt:lpstr>
      <vt:lpstr>Efficiency: Costs &amp; Resource Allocation</vt:lpstr>
      <vt:lpstr>Experimental Design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 Wei</dc:creator>
  <cp:lastModifiedBy>Quan Wei</cp:lastModifiedBy>
  <cp:revision>14</cp:revision>
  <dcterms:created xsi:type="dcterms:W3CDTF">2023-09-27T00:43:16Z</dcterms:created>
  <dcterms:modified xsi:type="dcterms:W3CDTF">2026-06-10T15:01:43Z</dcterms:modified>
</cp:coreProperties>
</file>