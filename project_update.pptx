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9"/>
  </p:notesMasterIdLst>
  <p:sldIdLst>
    <p:sldId id="389" r:id="rId2"/>
    <p:sldId id="275" r:id="rId3"/>
    <p:sldId id="353" r:id="rId4"/>
    <p:sldId id="312" r:id="rId5"/>
    <p:sldId id="375" r:id="rId6"/>
    <p:sldId id="382" r:id="rId7"/>
    <p:sldId id="354" r:id="rId8"/>
    <p:sldId id="381" r:id="rId9"/>
    <p:sldId id="383" r:id="rId10"/>
    <p:sldId id="388" r:id="rId11"/>
    <p:sldId id="385" r:id="rId12"/>
    <p:sldId id="386" r:id="rId13"/>
    <p:sldId id="387" r:id="rId14"/>
    <p:sldId id="374" r:id="rId15"/>
    <p:sldId id="449" r:id="rId16"/>
    <p:sldId id="416" r:id="rId17"/>
    <p:sldId id="418" r:id="rId18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25"/>
    <p:restoredTop sz="96301"/>
  </p:normalViewPr>
  <p:slideViewPr>
    <p:cSldViewPr snapToGrid="0">
      <p:cViewPr varScale="1">
        <p:scale>
          <a:sx n="86" d="100"/>
          <a:sy n="86" d="100"/>
        </p:scale>
        <p:origin x="248" y="9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69A4D8-3B2C-044F-B9CE-BA9A5D441629}" type="datetimeFigureOut">
              <a:rPr lang="en-CN" smtClean="0"/>
              <a:t>2026/6/12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6F683E-058F-7844-92CC-A1F3595AD25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2699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6F683E-058F-7844-92CC-A1F3595AD258}" type="slidenum">
              <a:rPr lang="en-CN" smtClean="0"/>
              <a:t>14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066509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6F683E-058F-7844-92CC-A1F3595AD258}" type="slidenum">
              <a:rPr lang="en-CN" smtClean="0"/>
              <a:t>15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108619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35A-B65B-BA43-DEFA-701C430F64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017265-960C-FE67-F86C-66A70F2B78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79538-356D-7C7F-EE4F-968ECE9D1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109AB-5A71-B848-AE30-6241B4A377C3}" type="datetime1">
              <a:rPr lang="en-US" smtClean="0"/>
              <a:t>6/12/26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93132-E1B1-0F99-3E3B-119533FB8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281E1-7FB5-F70B-4379-3030052DB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2226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49205-F00A-E131-F6A7-DB0222E7D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C8A6C-D713-B849-C327-8BAEE84BA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08F24-DFE6-3506-C4E9-CBE7FDF9E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112CF-B6AE-474E-A1D1-12258281CB95}" type="datetime1">
              <a:rPr lang="en-US" smtClean="0"/>
              <a:t>6/12/26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2B6B1-377C-00E6-D221-41B5A0710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14BB0-1C6B-D643-5E39-B8D6DB167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83132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74D16-7790-5C56-D603-85445D366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0D2B4-2803-8849-1DC1-0FBB60A74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568C0-F943-674A-357A-27859DB32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D9D0-4F79-BC4B-978E-030A93E4CCAE}" type="datetime1">
              <a:rPr lang="en-US" smtClean="0"/>
              <a:t>6/12/26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17ED-4A5F-2ECD-3DAC-F7EB47670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1F291-2A9E-885E-95C7-EF1B2F6E2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54649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BBC3D-A765-3BBE-F432-592CAD070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05179-5264-9811-AC7A-A3F895D803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92ACB9-92BE-3642-0D1D-5474C35CE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100400-C3A5-DD8F-B7D1-C7D8AC2CB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2B4FA-D8CB-FF46-9B48-72A2520F1EB0}" type="datetime1">
              <a:rPr lang="en-US" smtClean="0"/>
              <a:t>6/12/26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717634-6DA0-E2B1-3C11-9D477007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E259A4-E452-D3B1-6567-536EEC013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6312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1694B-37DC-9BF5-1B57-C11F0305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DF299-3F31-A743-BB96-3BB70CA1E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F6C586-16D1-252D-8FD0-3698FE385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900F95-C143-B477-AA72-E3C28172B5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8AF49F-6DFC-246B-D645-9FFA0A6101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EB587F-EC2A-2932-FEF6-686366A4E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D5D45-C04D-A143-B571-20041271315A}" type="datetime1">
              <a:rPr lang="en-US" smtClean="0"/>
              <a:t>6/12/26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AD7BE5-FFF9-EAD4-EC22-AB90B109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93856D-0319-1A63-66F8-021F2B610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7338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08932-6E0F-B5E7-9265-02793EF01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7746D0-4F72-5D91-8067-699C199F5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70501-1AEF-9240-8471-86DF1A6D9745}" type="datetime1">
              <a:rPr lang="en-US" smtClean="0"/>
              <a:t>6/12/26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45484-51AD-53CB-5C95-065E98EBA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657B2-CA9B-1000-A50E-1754070FC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47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A21C2-18B1-7B7B-2B43-F949CDA4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344E2-A38D-ED4A-9FAE-38DACDB44195}" type="datetime1">
              <a:rPr lang="en-US" smtClean="0"/>
              <a:t>6/12/26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21A609-0268-4640-BD31-47BB5C664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1EAA3-D590-C543-7AAC-FC05D5D28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0609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72503-45C9-65D7-9526-66CCE46C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2CAF-BD6D-4CAB-7871-56FD71858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3417B6-A247-00DE-975B-196884314B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B63B4F-350B-2D06-7778-81FE02D5D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8D108-18C9-8A47-BCEE-FC844F24048D}" type="datetime1">
              <a:rPr lang="en-US" smtClean="0"/>
              <a:t>6/12/26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AB013-FDAD-420E-8447-52DD1298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BD807F-6E2B-B302-79AD-EAAF990CF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46143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6BF97-12AC-9DC9-310D-AA0936A53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727154-2E33-C916-2D68-88ED9C0600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054101-0138-32EE-FA02-BFA45EAA07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5ECC4-CE26-F232-E79D-64AB88CF7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0546-E853-EA4A-BB99-95D94DD39026}" type="datetime1">
              <a:rPr lang="en-US" smtClean="0"/>
              <a:t>6/12/26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6E3AA-BD02-E5EF-F8D5-E57A2A56D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A486DF-DDC2-B9A1-2228-CD93DAAC8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47230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4CBF-5A37-053A-B794-1F88C6DEE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236724-CF77-6AB1-33AE-5D0863B82F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BFAA7-6176-B479-B30D-C8A8C295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8228F-5CF2-0046-9186-A5BCE16AD50F}" type="datetime1">
              <a:rPr lang="en-US" smtClean="0"/>
              <a:t>6/12/26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AAAF4-55DE-C618-860F-87E909782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3C8BE-2A9B-4574-E706-716E0556C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89560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7AF81-A906-0820-E3B0-ECB5B41F9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9D0E12-01BF-F3F9-314B-7C9A07318E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1DC7C-0EE4-BD6F-CC11-E73EFD494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B0477-26BF-834F-AE73-C91BC4DF75D4}" type="datetime1">
              <a:rPr lang="en-US" smtClean="0"/>
              <a:t>6/12/26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DB8B6-1130-96D9-00F9-AF4BE6424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39F2E3-8EA6-9A8F-7D4B-799C939E4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85726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ADE98C-48CB-A7C5-69C0-7C8225D3A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645230-8B91-5EE3-70F9-FFF397887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0E9FA-4887-C647-1227-3563FEDD94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67D221-21D5-E343-9B76-E6DA17C5106F}" type="datetime1">
              <a:rPr lang="en-US" smtClean="0"/>
              <a:t>6/12/26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58184-3AA3-E462-D97A-C246FFF114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C0461-8630-3F7B-0BBE-781F8A335C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408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7FF716-6B78-A664-4C46-3C5977EC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9D4CEF-3555-7854-1F9D-D28008C4F26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B634FB-DF64-3844-36D2-1830F63A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A2116-23F5-FE71-A642-B53DB8E4A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100"/>
              </a:spcBef>
              <a:spcAft>
                <a:spcPts val="150"/>
              </a:spcAft>
              <a:buNone/>
            </a:pPr>
            <a:endParaRPr lang="en-US" sz="2400" dirty="0">
              <a:solidFill>
                <a:srgbClr val="0073C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6C49-890C-B537-243D-F46EA0E6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F552D167-F6C6-DD8A-C58A-E3062CB80615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4F6969E-B7D6-DB4F-3D46-0898E523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5640A57E-3A3F-4D74-E8E3-76F0EFD6D3B0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2406343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/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03BC2B-9AD7-8F77-0482-60AC0C38D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06AAC-30D0-931F-13F6-83F8F178D3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June 1 – August 7,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07311-195D-0088-1A8F-8AE5FDECF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2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/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B1ED2A-126C-C268-0703-0A945A4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58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571E8-75E4-DDB6-C54E-9A6DD05EE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>
            <a:extLst>
              <a:ext uri="{FF2B5EF4-FFF2-40B4-BE49-F238E27FC236}">
                <a16:creationId xmlns:a16="http://schemas.microsoft.com/office/drawing/2014/main" id="{DADDDFD8-A892-4C1C-B8FF-D1173ED0F599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>
            <a:extLst>
              <a:ext uri="{FF2B5EF4-FFF2-40B4-BE49-F238E27FC236}">
                <a16:creationId xmlns:a16="http://schemas.microsoft.com/office/drawing/2014/main" id="{105FDE61-73DD-61E8-505D-25DB1AF5DA9B}"/>
              </a:ext>
            </a:extLst>
          </p:cNvPr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696C4B-6147-A048-89F8-E1900C10B3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7ABAE-485D-8204-76A7-B7CFC51E16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Wee</a:t>
            </a:r>
            <a:r>
              <a:rPr lang="en-US" altLang="zh-CN" sz="1600" dirty="0">
                <a:solidFill>
                  <a:srgbClr val="6E7B8B"/>
                </a:solidFill>
              </a:rPr>
              <a:t>k</a:t>
            </a:r>
            <a:r>
              <a:rPr lang="zh-CN" altLang="en-US" sz="1600" dirty="0">
                <a:solidFill>
                  <a:srgbClr val="6E7B8B"/>
                </a:solidFill>
              </a:rPr>
              <a:t> </a:t>
            </a:r>
            <a:r>
              <a:rPr lang="en-US" altLang="zh-CN" sz="1600" dirty="0">
                <a:solidFill>
                  <a:srgbClr val="6E7B8B"/>
                </a:solidFill>
              </a:rPr>
              <a:t>1</a:t>
            </a:r>
            <a:endParaRPr lang="en-US" sz="1600" dirty="0">
              <a:solidFill>
                <a:srgbClr val="6E7B8B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F58E6-7DAD-1A83-1C57-81BEF89E3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3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>
            <a:extLst>
              <a:ext uri="{FF2B5EF4-FFF2-40B4-BE49-F238E27FC236}">
                <a16:creationId xmlns:a16="http://schemas.microsoft.com/office/drawing/2014/main" id="{677DDEFC-0AB0-13A2-6B42-E9B6867CA4A4}"/>
              </a:ext>
            </a:extLst>
          </p:cNvPr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E1924F-9B49-64C2-0074-9F7A31659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835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F8E0CC54-DBBB-3447-ACA3-D3B00C64F27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F8EF8D-F4E9-0325-EF07-45C8516ED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Project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Overview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3DCF4-26B4-2A4F-9E1E-5D811CCCC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>
              <a:buNone/>
            </a:pPr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D30ED-9F42-0C26-DC61-D1A079C2B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4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60581B44-37E6-4B43-822C-4B9692BF2E7D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56B1ED2A-126C-C268-0703-0A945A4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20" name="Card Header 20"/>
          <p:cNvSpPr/>
          <p:nvPr/>
        </p:nvSpPr>
        <p:spPr>
          <a:xfrm>
            <a:off x="838200" y="2489200"/>
            <a:ext cx="5080000" cy="584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0396B"/>
          </a:solidFill>
          <a:ln>
            <a:noFill/>
          </a:ln>
        </p:spPr>
        <p:txBody>
          <a:bodyPr wrap="square" lIns="203200" tIns="0" rIns="203200" bIns="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Research Direction</a:t>
            </a:r>
          </a:p>
        </p:txBody>
      </p:sp>
      <p:sp>
        <p:nvSpPr>
          <p:cNvPr id="21" name="Card Body 20"/>
          <p:cNvSpPr/>
          <p:nvPr/>
        </p:nvSpPr>
        <p:spPr>
          <a:xfrm>
            <a:off x="838200" y="3073400"/>
            <a:ext cx="5080000" cy="3175000"/>
          </a:xfrm>
          <a:prstGeom prst="round2SameRect">
            <a:avLst>
              <a:gd name="adj1" fmla="val 0"/>
              <a:gd name="adj2" fmla="val 12000"/>
            </a:avLst>
          </a:prstGeom>
          <a:solidFill>
            <a:srgbClr val="EEF2F6"/>
          </a:solidFill>
          <a:ln>
            <a:noFill/>
          </a:ln>
        </p:spPr>
        <p:txBody>
          <a:bodyPr wrap="square" lIns="228600" tIns="177800" rIns="228600" bIns="17780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A1A1A"/>
                </a:solidFill>
              </a:rPr>
              <a:t>LLM-based multi-agent system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Agent harness: </a:t>
            </a:r>
            <a:r>
              <a:rPr lang="en-US" sz="1500" dirty="0">
                <a:solidFill>
                  <a:srgbClr val="1A1A1A"/>
                </a:solidFill>
              </a:rPr>
              <a:t>scaffolding around the LLM that manages the reasoning loop, tool invocation, and state across turns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Decentralized coordination: </a:t>
            </a:r>
            <a:r>
              <a:rPr lang="en-US" sz="1500" dirty="0">
                <a:solidFill>
                  <a:srgbClr val="1A1A1A"/>
                </a:solidFill>
              </a:rPr>
              <a:t>agents self-organize and reach consensus without a central orchestrator</a:t>
            </a:r>
          </a:p>
        </p:txBody>
      </p:sp>
      <p:sp>
        <p:nvSpPr>
          <p:cNvPr id="30" name="Card Header 30"/>
          <p:cNvSpPr/>
          <p:nvPr/>
        </p:nvSpPr>
        <p:spPr>
          <a:xfrm>
            <a:off x="6273800" y="2489200"/>
            <a:ext cx="5080000" cy="584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0396B"/>
          </a:solidFill>
          <a:ln>
            <a:noFill/>
          </a:ln>
        </p:spPr>
        <p:txBody>
          <a:bodyPr wrap="square" lIns="203200" tIns="0" rIns="203200" bIns="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Goals</a:t>
            </a:r>
          </a:p>
        </p:txBody>
      </p:sp>
      <p:sp>
        <p:nvSpPr>
          <p:cNvPr id="31" name="Card Body 30"/>
          <p:cNvSpPr/>
          <p:nvPr/>
        </p:nvSpPr>
        <p:spPr>
          <a:xfrm>
            <a:off x="6273800" y="3073400"/>
            <a:ext cx="5080000" cy="3175000"/>
          </a:xfrm>
          <a:prstGeom prst="round2SameRect">
            <a:avLst>
              <a:gd name="adj1" fmla="val 0"/>
              <a:gd name="adj2" fmla="val 12000"/>
            </a:avLst>
          </a:prstGeom>
          <a:solidFill>
            <a:srgbClr val="EEF2F6"/>
          </a:solidFill>
          <a:ln>
            <a:noFill/>
          </a:ln>
        </p:spPr>
        <p:txBody>
          <a:bodyPr wrap="square" lIns="228600" tIns="177800" rIns="228600" bIns="177800" anchor="t">
            <a:normAutofit/>
          </a:bodyPr>
          <a:lstStyle/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Effective agent workflows: </a:t>
            </a:r>
            <a:r>
              <a:rPr lang="en-US" sz="1500" dirty="0">
                <a:solidFill>
                  <a:srgbClr val="1A1A1A"/>
                </a:solidFill>
              </a:rPr>
              <a:t>robust task decomposition and recovery that hold up on long-horizon tasks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Token efficiency: </a:t>
            </a:r>
            <a:r>
              <a:rPr lang="en-US" sz="1500" dirty="0">
                <a:solidFill>
                  <a:srgbClr val="1A1A1A"/>
                </a:solidFill>
              </a:rPr>
              <a:t>cut inter-agent communication and context overhead without losing accuracy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Research output: </a:t>
            </a:r>
            <a:r>
              <a:rPr lang="en-US" sz="1500" dirty="0">
                <a:solidFill>
                  <a:srgbClr val="1A1A1A"/>
                </a:solidFill>
              </a:rPr>
              <a:t>identify challenging, high-impact problems, solve them, and consolidate the findings into a paper submission</a:t>
            </a:r>
          </a:p>
        </p:txBody>
      </p:sp>
      <p:sp>
        <p:nvSpPr>
          <p:cNvPr id="10" name="Footer Name">
            <a:extLst>
              <a:ext uri="{FF2B5EF4-FFF2-40B4-BE49-F238E27FC236}">
                <a16:creationId xmlns:a16="http://schemas.microsoft.com/office/drawing/2014/main" id="{C86A6180-15B8-B344-BE74-A13E0788843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2649299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EBEB-8015-2366-C980-540CC20E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4C11B8-CC0E-5DAA-BC2A-D74FC9415AF1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F7C45E-9EB4-C736-A453-7F982B206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altLang="zh-CN" sz="4000" b="1" dirty="0">
                <a:solidFill>
                  <a:srgbClr val="00396B"/>
                </a:solidFill>
              </a:rPr>
              <a:t>Project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sz="4000" b="1" dirty="0">
                <a:solidFill>
                  <a:srgbClr val="00396B"/>
                </a:solidFill>
              </a:rPr>
              <a:t>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F6CFD-F019-3D66-B40F-9942631B9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4572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0396B"/>
                </a:solidFill>
              </a:rPr>
              <a:t>Large–Small Model Collaboration</a:t>
            </a:r>
            <a:r>
              <a:rPr lang="en-US" sz="1600" dirty="0">
                <a:solidFill>
                  <a:srgbClr val="3A3A3C"/>
                </a:solidFill>
              </a:rPr>
              <a:t>  —  each tier does the work it is best suited for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F33FE-E587-E27D-873C-E07E16B0A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5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C68C517F-5ACB-7B49-135C-7434082740D8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CA4B2E08-AD10-974E-24F5-613EE04D3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96DB3708-BCDB-4D06-A70B-E5FA88A3E60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  <p:graphicFrame>
        <p:nvGraphicFramePr>
          <p:cNvPr id="9" name="LLM SLM Table">
            <a:extLst>
              <a:ext uri="{FF2B5EF4-FFF2-40B4-BE49-F238E27FC236}">
                <a16:creationId xmlns:a16="http://schemas.microsoft.com/office/drawing/2014/main" id="{29D22ECD-818E-5847-B870-BB464A49F2F4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971800"/>
          <a:ext cx="10515600" cy="142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0865314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660271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61020268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endParaRPr lang="en-CN" sz="1500" b="1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500" b="1">
                          <a:solidFill>
                            <a:srgbClr val="FFFFFF"/>
                          </a:solidFill>
                        </a:rPr>
                        <a:t>Large model (LLM)</a:t>
                      </a: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500" b="1">
                          <a:solidFill>
                            <a:srgbClr val="FFFFFF"/>
                          </a:solidFill>
                        </a:rPr>
                        <a:t>Small model (SLM)</a:t>
                      </a: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58065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>
                          <a:solidFill>
                            <a:srgbClr val="00396B"/>
                          </a:solidFill>
                        </a:rPr>
                        <a:t>Role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Planner / orchestrator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Executor / specialist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05921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>
                          <a:solidFill>
                            <a:srgbClr val="00396B"/>
                          </a:solidFill>
                        </a:rPr>
                        <a:t>Handles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Complex reasoning, decomposition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Routine, latency-sensitive subtasks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79617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396B"/>
                          </a:solidFill>
                        </a:rPr>
                        <a:t>Cost</a:t>
                      </a:r>
                      <a:r>
                        <a:rPr lang="en-US" altLang="zh-CN" sz="1400" b="1" dirty="0">
                          <a:solidFill>
                            <a:srgbClr val="00396B"/>
                          </a:solidFill>
                        </a:rPr>
                        <a:t>/Latency</a:t>
                      </a:r>
                      <a:endParaRPr lang="en-CN" sz="1400" b="1" dirty="0">
                        <a:solidFill>
                          <a:srgbClr val="00396B"/>
                        </a:solidFill>
                      </a:endParaR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396B"/>
                          </a:solidFill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73CF"/>
                          </a:solidFill>
                        </a:rPr>
                        <a:t>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423708"/>
                  </a:ext>
                </a:extLst>
              </a:tr>
            </a:tbl>
          </a:graphicData>
        </a:graphic>
      </p:graphicFrame>
      <p:sp>
        <p:nvSpPr>
          <p:cNvPr id="11" name="Bilevel Box">
            <a:extLst>
              <a:ext uri="{FF2B5EF4-FFF2-40B4-BE49-F238E27FC236}">
                <a16:creationId xmlns:a16="http://schemas.microsoft.com/office/drawing/2014/main" id="{BA0E625F-F202-264B-8D4C-2991FD6B7B63}"/>
              </a:ext>
            </a:extLst>
          </p:cNvPr>
          <p:cNvSpPr txBox="1"/>
          <p:nvPr/>
        </p:nvSpPr>
        <p:spPr>
          <a:xfrm>
            <a:off x="838200" y="4572000"/>
            <a:ext cx="10515600" cy="1676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00396B"/>
                </a:solidFill>
              </a:rPr>
              <a:t>Bilevel Collaboration</a:t>
            </a:r>
          </a:p>
          <a:p>
            <a:pPr marL="285750" indent="-285750" algn="l">
              <a:spcBef>
                <a:spcPts val="120"/>
              </a:spcBef>
              <a:spcAft>
                <a:spcPts val="12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Task-level — cost-efficient: </a:t>
            </a:r>
            <a:r>
              <a:rPr lang="en-US" sz="1500" dirty="0">
                <a:solidFill>
                  <a:srgbClr val="1A1A1A"/>
                </a:solidFill>
              </a:rPr>
              <a:t>route simple subtasks to small models, sparing large-model calls.</a:t>
            </a:r>
          </a:p>
          <a:p>
            <a:pPr marL="285750" indent="-285750" algn="l">
              <a:spcBef>
                <a:spcPts val="120"/>
              </a:spcBef>
              <a:spcAft>
                <a:spcPts val="2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Token-level — token-efficient: </a:t>
            </a:r>
            <a:r>
              <a:rPr lang="en-US" sz="1500" dirty="0">
                <a:solidFill>
                  <a:srgbClr val="1A1A1A"/>
                </a:solidFill>
              </a:rPr>
              <a:t>small models draft tokens via speculative decoding, verified in one pass.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 sz="1500" b="1" i="1" dirty="0">
              <a:solidFill>
                <a:srgbClr val="0073CF"/>
              </a:solidFill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1" dirty="0">
                <a:solidFill>
                  <a:srgbClr val="0073CF"/>
                </a:solidFill>
              </a:rPr>
              <a:t>Unified, the two levels make end-to-end inference both cost- and token-efficient—without sacrificing quality.</a:t>
            </a:r>
          </a:p>
        </p:txBody>
      </p:sp>
    </p:spTree>
    <p:extLst>
      <p:ext uri="{BB962C8B-B14F-4D97-AF65-F5344CB8AC3E}">
        <p14:creationId xmlns:p14="http://schemas.microsoft.com/office/powerpoint/2010/main" val="1940943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2070-167E-3408-EEB2-F6ED38BCD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17037776-F042-D4D0-3477-67DA63A4240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9BD462-E1DC-1CB9-A732-6BBF69942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Project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Plan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AF201-9B98-2B16-C7F0-1698DC08D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 fontScale="92500" lnSpcReduction="10000"/>
          </a:bodyPr>
          <a:lstStyle/>
          <a:p>
            <a:pPr marL="0" indent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396B"/>
                </a:solidFill>
              </a:rPr>
              <a:t>Models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Closed-source (API): </a:t>
            </a:r>
            <a:r>
              <a:rPr lang="en-US" sz="2400" dirty="0">
                <a:solidFill>
                  <a:srgbClr val="1A1A1A"/>
                </a:solidFill>
              </a:rPr>
              <a:t>Claude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Open-source: </a:t>
            </a:r>
            <a:r>
              <a:rPr lang="en-US" sz="2400" dirty="0">
                <a:solidFill>
                  <a:srgbClr val="1A1A1A"/>
                </a:solidFill>
              </a:rPr>
              <a:t>Qwen series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396B"/>
                </a:solidFill>
              </a:rPr>
              <a:t>Tasks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Deep Search: </a:t>
            </a:r>
            <a:r>
              <a:rPr lang="en-US" sz="2400" dirty="0">
                <a:solidFill>
                  <a:srgbClr val="1A1A1A"/>
                </a:solidFill>
              </a:rPr>
              <a:t>multi-step retrieval across sources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Deep Research: </a:t>
            </a:r>
            <a:r>
              <a:rPr lang="en-US" sz="2400" dirty="0">
                <a:solidFill>
                  <a:srgbClr val="1A1A1A"/>
                </a:solidFill>
              </a:rPr>
              <a:t>synthesis of findings into structured reports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Code Generation: </a:t>
            </a:r>
            <a:r>
              <a:rPr lang="en-US" sz="2400" dirty="0">
                <a:solidFill>
                  <a:srgbClr val="1A1A1A"/>
                </a:solidFill>
              </a:rPr>
              <a:t>end-to-end code writing and execution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396B"/>
                </a:solidFill>
              </a:rPr>
              <a:t>Metrics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Quality: </a:t>
            </a:r>
            <a:r>
              <a:rPr lang="en-US" sz="2400" dirty="0">
                <a:solidFill>
                  <a:srgbClr val="1A1A1A"/>
                </a:solidFill>
              </a:rPr>
              <a:t>task accuracy and answer correctness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Efficiency: </a:t>
            </a:r>
            <a:r>
              <a:rPr lang="en-US" sz="2400" dirty="0">
                <a:solidFill>
                  <a:srgbClr val="1A1A1A"/>
                </a:solidFill>
              </a:rPr>
              <a:t>token cost and latency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AF0E1-99F5-B2B8-5864-40A0EC786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6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1FEDF0BE-EA3E-F678-521A-F662C53C156B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00348D28-ADBA-B423-2122-472CBF1EF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EEE8946-DC29-629D-73C8-6B761EF36F3D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3554688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52844-1A84-3109-CEB9-2F8D4EBD9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>
            <a:extLst>
              <a:ext uri="{FF2B5EF4-FFF2-40B4-BE49-F238E27FC236}">
                <a16:creationId xmlns:a16="http://schemas.microsoft.com/office/drawing/2014/main" id="{6AAEA816-A24E-7E1C-41C8-3C5F05207A4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>
            <a:extLst>
              <a:ext uri="{FF2B5EF4-FFF2-40B4-BE49-F238E27FC236}">
                <a16:creationId xmlns:a16="http://schemas.microsoft.com/office/drawing/2014/main" id="{9B3EE851-4260-DA97-158F-C02334D9603A}"/>
              </a:ext>
            </a:extLst>
          </p:cNvPr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4C006A-B7E0-D0A9-C9D0-95CDDEAB24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B097EF-8867-71FB-23A1-8807E7D857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Wee</a:t>
            </a:r>
            <a:r>
              <a:rPr lang="en-US" altLang="zh-CN" sz="1600" dirty="0">
                <a:solidFill>
                  <a:srgbClr val="6E7B8B"/>
                </a:solidFill>
              </a:rPr>
              <a:t>k</a:t>
            </a:r>
            <a:r>
              <a:rPr lang="zh-CN" altLang="en-US" sz="1600" dirty="0">
                <a:solidFill>
                  <a:srgbClr val="6E7B8B"/>
                </a:solidFill>
              </a:rPr>
              <a:t> </a:t>
            </a:r>
            <a:r>
              <a:rPr lang="en-US" altLang="zh-CN" sz="1600" dirty="0">
                <a:solidFill>
                  <a:srgbClr val="6E7B8B"/>
                </a:solidFill>
              </a:rPr>
              <a:t>2</a:t>
            </a:r>
            <a:endParaRPr lang="en-US" sz="1600" dirty="0">
              <a:solidFill>
                <a:srgbClr val="6E7B8B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DA901-52A8-D8B7-08DB-4AE227CC4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7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>
            <a:extLst>
              <a:ext uri="{FF2B5EF4-FFF2-40B4-BE49-F238E27FC236}">
                <a16:creationId xmlns:a16="http://schemas.microsoft.com/office/drawing/2014/main" id="{A5139BD3-DD71-C962-7FDD-3D57D020F030}"/>
              </a:ext>
            </a:extLst>
          </p:cNvPr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B97C0E-5BDB-6337-4FFF-C26DA51CC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682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7FF716-6B78-A664-4C46-3C5977EC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9D4CEF-3555-7854-1F9D-D28008C4F26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B634FB-DF64-3844-36D2-1830F63A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OrchestrateAnything: 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A2116-23F5-FE71-A642-B53DB8E4A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ctr" anchorCtr="0">
            <a:normAutofit lnSpcReduction="10000"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2200" i="1" dirty="0">
                <a:solidFill>
                  <a:srgbClr val="6E7B8B"/>
                </a:solidFill>
              </a:rPr>
              <a:t>Goal: unified orchestration of tasks, models, and resources across heterogeneous multi-agent systems.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RQ1</a:t>
            </a:r>
            <a:r>
              <a:rPr lang="en-US" sz="2200" b="1" dirty="0">
                <a:solidFill>
                  <a:srgbClr val="00396B"/>
                </a:solidFill>
              </a:rPr>
              <a:t>  — Build a hierarchical MAS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dirty="0">
                <a:solidFill>
                  <a:srgbClr val="3A3A3C"/>
                </a:solidFill>
              </a:rPr>
              <a:t>How can a hierarchical multi-agent system reliably complete complex tasks?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Approach: </a:t>
            </a:r>
            <a:r>
              <a:rPr lang="en-US" sz="2200" dirty="0">
                <a:solidFill>
                  <a:srgbClr val="3A3A3C"/>
                </a:solidFill>
              </a:rPr>
              <a:t>pair a centralized orchestrator with decentralized, autonomous subagents.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RQ2</a:t>
            </a:r>
            <a:r>
              <a:rPr lang="en-US" sz="2200" b="1" dirty="0">
                <a:solidFill>
                  <a:srgbClr val="00396B"/>
                </a:solidFill>
              </a:rPr>
              <a:t>  — Orchestrate it efficiently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dirty="0">
                <a:solidFill>
                  <a:srgbClr val="3A3A3C"/>
                </a:solidFill>
              </a:rPr>
              <a:t>Given a mixed pool of closed- and open-source models, how to stay efficient without losing accuracy?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Approach: </a:t>
            </a:r>
            <a:r>
              <a:rPr lang="en-US" sz="2200" dirty="0">
                <a:solidFill>
                  <a:srgbClr val="3A3A3C"/>
                </a:solidFill>
              </a:rPr>
              <a:t>jointly optimize accuracy against model, token, communication, API, and latency cost.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6C49-890C-B537-243D-F46EA0E6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8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F552D167-F6C6-DD8A-C58A-E3062CB80615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4F6969E-B7D6-DB4F-3D46-0898E523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5640A57E-3A3F-4D74-E8E3-76F0EFD6D3B0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41267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1D4A40B-372B-714E-76A8-A59DC9DE9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B99E0EC1-3528-97A3-8350-1CE2B1C99FE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1D89D9-A0C0-0666-246D-AF168E24D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Hierarchical MAS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69365-C0F5-36EC-5425-548E9C108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t" anchorCtr="0">
            <a:normAutofit lnSpcReduction="10000"/>
          </a:bodyPr>
          <a:lstStyle/>
          <a:p>
            <a:pPr marL="0" indent="0" algn="l">
              <a:lnSpc>
                <a:spcPct val="100000"/>
              </a:lnSpc>
              <a:spcBef>
                <a:spcPts val="15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396B"/>
                </a:solidFill>
              </a:rPr>
              <a:t>Agent = Model + Harness</a:t>
            </a:r>
            <a:r>
              <a:rPr lang="en-US" sz="2000" dirty="0">
                <a:solidFill>
                  <a:srgbClr val="3A3A3C"/>
                </a:solidFill>
              </a:rPr>
              <a:t>   —   model reasons; harness handles prompts, tool routing, memory, and execution.</a:t>
            </a:r>
          </a:p>
          <a:p>
            <a:pPr marL="0" indent="0" algn="l">
              <a:lnSpc>
                <a:spcPct val="100000"/>
              </a:lnSpc>
              <a:spcBef>
                <a:spcPts val="15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396B"/>
                </a:solidFill>
              </a:rPr>
              <a:t>Agent Context = Profile + Memory + Communication + Tools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Two-layer control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Centralized — </a:t>
            </a:r>
            <a:r>
              <a:rPr lang="en-US" sz="2000" dirty="0">
                <a:solidFill>
                  <a:srgbClr val="3A3A3C"/>
                </a:solidFill>
              </a:rPr>
              <a:t>orchestrator holds the global view and drives high-level decisions.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Decentralized — </a:t>
            </a:r>
            <a:r>
              <a:rPr lang="en-US" sz="2000" dirty="0">
                <a:solidFill>
                  <a:srgbClr val="3A3A3C"/>
                </a:solidFill>
              </a:rPr>
              <a:t>subagents execute locally and autonomously, without central intervention.</a:t>
            </a:r>
          </a:p>
          <a:p>
            <a:pPr marL="0" indent="0" algn="l">
              <a:spcBef>
                <a:spcPts val="70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Subagent roles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Executor — </a:t>
            </a:r>
            <a:r>
              <a:rPr lang="en-US" sz="2000" dirty="0">
                <a:solidFill>
                  <a:srgbClr val="3A3A3C"/>
                </a:solidFill>
              </a:rPr>
              <a:t>carries out assigned subtasks.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Verifier — </a:t>
            </a:r>
            <a:r>
              <a:rPr lang="en-US" sz="2000" dirty="0">
                <a:solidFill>
                  <a:srgbClr val="3A3A3C"/>
                </a:solidFill>
              </a:rPr>
              <a:t>validates outputs for correctness.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Responder — </a:t>
            </a:r>
            <a:r>
              <a:rPr lang="en-US" sz="2000" dirty="0">
                <a:solidFill>
                  <a:srgbClr val="3A3A3C"/>
                </a:solidFill>
              </a:rPr>
              <a:t>synthesizes and delivers the final response.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Memory Manager — </a:t>
            </a:r>
            <a:r>
              <a:rPr lang="en-US" sz="2000" dirty="0">
                <a:solidFill>
                  <a:srgbClr val="3A3A3C"/>
                </a:solidFill>
              </a:rPr>
              <a:t>maintains persistent and working memory.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4D31A-3DB6-0A13-A758-D19C66D29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9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822F9242-BFFF-3D7B-B19C-4254BFC9269E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E15F3D7-0092-B24A-8DAA-DD6B47A29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82B5A17A-0CCB-F44B-1566-C78A9E50B8C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2439352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2D2A01-C805-89C4-FE86-4736CB82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8120D02C-6AB4-F46D-729E-F63B9791E97A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2A9FB5-B9B5-0D0A-0FF8-5D0E2D8DA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Orchestrator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1FF6C-C3DD-1C88-260A-36C216ACC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ctr" anchorCtr="0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i="1" dirty="0">
                <a:solidFill>
                  <a:srgbClr val="6E7B8B"/>
                </a:solidFill>
              </a:rPr>
              <a:t>The orchestrator coordinates the system across three levels.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Task orchestration — </a:t>
            </a:r>
            <a:r>
              <a:rPr lang="en-US" sz="2200" dirty="0">
                <a:solidFill>
                  <a:srgbClr val="3A3A3C"/>
                </a:solidFill>
              </a:rPr>
              <a:t>decompose the input into a subtask DAG and assign subtasks to subagents.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Model orchestration — </a:t>
            </a:r>
            <a:r>
              <a:rPr lang="en-US" sz="2200" dirty="0">
                <a:solidFill>
                  <a:srgbClr val="3A3A3C"/>
                </a:solidFill>
              </a:rPr>
              <a:t>match each subagent to a model based on task demands and model capability.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Resource orchestration — </a:t>
            </a:r>
            <a:r>
              <a:rPr lang="en-US" sz="2200" dirty="0">
                <a:solidFill>
                  <a:srgbClr val="3A3A3C"/>
                </a:solidFill>
              </a:rPr>
              <a:t>govern shared memory and communication channels for coordinated execution.</a:t>
            </a:r>
          </a:p>
          <a:p>
            <a:pPr marL="0" indent="0" algn="l">
              <a:spcBef>
                <a:spcPts val="900"/>
              </a:spcBef>
              <a:spcAft>
                <a:spcPts val="25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Why it matters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dirty="0">
                <a:solidFill>
                  <a:srgbClr val="3A3A3C"/>
                </a:solidFill>
              </a:rPr>
              <a:t>Prior work covers task and model orchestration; </a:t>
            </a:r>
            <a:r>
              <a:rPr lang="en-US" sz="2200" b="1" dirty="0">
                <a:solidFill>
                  <a:srgbClr val="00396B"/>
                </a:solidFill>
              </a:rPr>
              <a:t>resource orchestration is the gap we target.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1ED76-F6D7-A61B-11DD-4AE45BFF4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10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4A2B0E84-C141-4C5F-333F-D3C04C3195A7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1AF6E5B8-18A0-7B6C-D54E-461A0F812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8C9BA624-0AC7-5B31-287F-E60FC337C4C7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3553519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B8F57F-7B6D-77CA-0416-E62BAF6D8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B21E1795-6626-C8D2-ACB7-02312CFDB57D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FB3D32-4AD5-0E86-4DA1-2B0A464DE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Efficiency: Costs &amp; Resource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84AA-C467-47CA-C1DC-EEE64CBB1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Five cost dimensions to optimize jointly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Model — </a:t>
            </a:r>
            <a:r>
              <a:rPr lang="en-US" sz="2000" dirty="0">
                <a:solidFill>
                  <a:srgbClr val="3A3A3C"/>
                </a:solidFill>
              </a:rPr>
              <a:t>scales with tier: closed-source &gt; open large &gt; open small.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Token — </a:t>
            </a:r>
            <a:r>
              <a:rPr lang="en-US" sz="2000" dirty="0">
                <a:solidFill>
                  <a:srgbClr val="3A3A3C"/>
                </a:solidFill>
              </a:rPr>
              <a:t>scales with prompt and completion tokens per call.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Communication — </a:t>
            </a:r>
            <a:r>
              <a:rPr lang="en-US" sz="2000" dirty="0">
                <a:solidFill>
                  <a:srgbClr val="3A3A3C"/>
                </a:solidFill>
              </a:rPr>
              <a:t>message frequency and payload size between agents.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API — </a:t>
            </a:r>
            <a:r>
              <a:rPr lang="en-US" sz="2000" dirty="0">
                <a:solidFill>
                  <a:srgbClr val="3A3A3C"/>
                </a:solidFill>
              </a:rPr>
              <a:t>each tool call (retrieval, code execution) adds cost.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Latency — </a:t>
            </a:r>
            <a:r>
              <a:rPr lang="en-US" sz="2000" dirty="0">
                <a:solidFill>
                  <a:srgbClr val="3A3A3C"/>
                </a:solidFill>
              </a:rPr>
              <a:t>delay from inference and inter-agent messaging.</a:t>
            </a:r>
          </a:p>
          <a:p>
            <a:pPr marL="0" indent="0" algn="l">
              <a:spcBef>
                <a:spcPts val="80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Three allocation levers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Model allocation — </a:t>
            </a:r>
            <a:r>
              <a:rPr lang="en-US" sz="2000" dirty="0">
                <a:solidFill>
                  <a:srgbClr val="3A3A3C"/>
                </a:solidFill>
              </a:rPr>
              <a:t>which model runs each subtask; controls model cost &amp; accuracy.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Token allocation — </a:t>
            </a:r>
            <a:r>
              <a:rPr lang="en-US" sz="2000" dirty="0">
                <a:solidFill>
                  <a:srgbClr val="3A3A3C"/>
                </a:solidFill>
              </a:rPr>
              <a:t>budget per agent or subtask; controls token cost.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Communication allocation — </a:t>
            </a:r>
            <a:r>
              <a:rPr lang="en-US" sz="2000" dirty="0">
                <a:solidFill>
                  <a:srgbClr val="3A3A3C"/>
                </a:solidFill>
              </a:rPr>
              <a:t>routing and frequency; controls comm and latency cost.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4744B-6558-CD84-EBBE-8048A84C1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11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AF2EFD33-8926-DC84-B531-0C05793A3F9F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10F56977-2791-E200-8E56-59046F20D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9B3DD55C-A236-F124-F6EE-355FBE441AFB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576075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0B8982-4435-BFA1-D40B-2079FDB93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CD2C8233-A9CC-0441-BDE6-F3D112A2F4B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058B8F-21E6-5F36-3572-68C78BA75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Experimental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B918F-784C-1E1A-F9FB-F47ABE5CB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5029200" cy="3530600"/>
          </a:xfrm>
        </p:spPr>
        <p:txBody>
          <a:bodyPr anchor="t" anchorCtr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Baselines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Single agent — </a:t>
            </a:r>
            <a:r>
              <a:rPr lang="en-US" sz="1800" dirty="0">
                <a:solidFill>
                  <a:srgbClr val="3A3A3C"/>
                </a:solidFill>
              </a:rPr>
              <a:t>one model, no decomposition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Homogeneous MAS — </a:t>
            </a:r>
            <a:r>
              <a:rPr lang="en-US" sz="1800" dirty="0">
                <a:solidFill>
                  <a:srgbClr val="3A3A3C"/>
                </a:solidFill>
              </a:rPr>
              <a:t>AgentFlow, AORCHESTRA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Heterogeneous MAS — </a:t>
            </a:r>
            <a:r>
              <a:rPr lang="en-US" sz="1800" dirty="0">
                <a:solidFill>
                  <a:srgbClr val="3A3A3C"/>
                </a:solidFill>
              </a:rPr>
              <a:t>MAS-Orchestra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Public vs. Ours — </a:t>
            </a:r>
            <a:r>
              <a:rPr lang="en-US" sz="1800" dirty="0">
                <a:solidFill>
                  <a:srgbClr val="3A3A3C"/>
                </a:solidFill>
              </a:rPr>
              <a:t>pre-trained vs. trained</a:t>
            </a:r>
          </a:p>
          <a:p>
            <a:pPr marL="0" indent="0" algn="l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Model pool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Closed-source — </a:t>
            </a:r>
            <a:r>
              <a:rPr lang="en-US" sz="1800" dirty="0">
                <a:solidFill>
                  <a:srgbClr val="3A3A3C"/>
                </a:solidFill>
              </a:rPr>
              <a:t>Claude, GPT, Gemini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Open-source — </a:t>
            </a:r>
            <a:r>
              <a:rPr lang="en-US" sz="1800" dirty="0">
                <a:solidFill>
                  <a:srgbClr val="3A3A3C"/>
                </a:solidFill>
              </a:rPr>
              <a:t>gpt-oss-120B / 20B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Task-specific — </a:t>
            </a:r>
            <a:r>
              <a:rPr lang="en-US" sz="1800" dirty="0">
                <a:solidFill>
                  <a:srgbClr val="3A3A3C"/>
                </a:solidFill>
              </a:rPr>
              <a:t>CodeLlama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8EB81-3AE2-EACC-AB7F-E845DCFC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12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47E7542B-EF94-D00E-07E5-A560F2B92E62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D326D1E3-63F4-65D5-3525-EF5578C28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E6A38FE1-CEAF-8F5B-CE3F-4AC7DF63EE51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  <p:sp>
        <p:nvSpPr>
          <p:cNvPr id="8" name="RightCol">
            <a:extLst>
              <a:ext uri="{FF2B5EF4-FFF2-40B4-BE49-F238E27FC236}">
                <a16:creationId xmlns:a16="http://schemas.microsoft.com/office/drawing/2014/main" id="{AB2A035E-6DFF-A442-BE79-65774EBAF4CB}"/>
              </a:ext>
            </a:extLst>
          </p:cNvPr>
          <p:cNvSpPr txBox="1"/>
          <p:nvPr/>
        </p:nvSpPr>
        <p:spPr>
          <a:xfrm>
            <a:off x="6172200" y="2387600"/>
            <a:ext cx="5181600" cy="3530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Tasks &amp; datasets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Search — </a:t>
            </a:r>
            <a:r>
              <a:rPr lang="en-US" sz="1800" dirty="0">
                <a:solidFill>
                  <a:srgbClr val="3A3A3C"/>
                </a:solidFill>
              </a:rPr>
              <a:t>HotpotQA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Deep research — </a:t>
            </a:r>
            <a:r>
              <a:rPr lang="en-US" sz="1800" dirty="0">
                <a:solidFill>
                  <a:srgbClr val="3A3A3C"/>
                </a:solidFill>
              </a:rPr>
              <a:t>GAIA, BrowseComp+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Math — </a:t>
            </a:r>
            <a:r>
              <a:rPr lang="en-US" sz="1800" dirty="0">
                <a:solidFill>
                  <a:srgbClr val="3A3A3C"/>
                </a:solidFill>
              </a:rPr>
              <a:t>AIME, AMC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Science — </a:t>
            </a:r>
            <a:r>
              <a:rPr lang="en-US" sz="1800" dirty="0">
                <a:solidFill>
                  <a:srgbClr val="3A3A3C"/>
                </a:solidFill>
              </a:rPr>
              <a:t>GPQA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Code — </a:t>
            </a:r>
            <a:r>
              <a:rPr lang="en-US" sz="1800" dirty="0">
                <a:solidFill>
                  <a:srgbClr val="3A3A3C"/>
                </a:solidFill>
              </a:rPr>
              <a:t>SWE-bench, Terminal-bench</a:t>
            </a:r>
          </a:p>
          <a:p>
            <a:pPr marL="0" indent="0" algn="l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Metrics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Accuracy — </a:t>
            </a:r>
            <a:r>
              <a:rPr lang="en-US" sz="1800" dirty="0">
                <a:solidFill>
                  <a:srgbClr val="3A3A3C"/>
                </a:solidFill>
              </a:rPr>
              <a:t>task completion quality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Cost — </a:t>
            </a:r>
            <a:r>
              <a:rPr lang="en-US" sz="1800" dirty="0">
                <a:solidFill>
                  <a:srgbClr val="3A3A3C"/>
                </a:solidFill>
              </a:rPr>
              <a:t>model + token + communication</a:t>
            </a:r>
          </a:p>
        </p:txBody>
      </p:sp>
      <p:sp>
        <p:nvSpPr>
          <p:cNvPr id="9" name="References">
            <a:extLst>
              <a:ext uri="{FF2B5EF4-FFF2-40B4-BE49-F238E27FC236}">
                <a16:creationId xmlns:a16="http://schemas.microsoft.com/office/drawing/2014/main" id="{7D303B13-3751-6F41-9785-B7A3AACBBBAE}"/>
              </a:ext>
            </a:extLst>
          </p:cNvPr>
          <p:cNvSpPr txBox="1"/>
          <p:nvPr/>
        </p:nvSpPr>
        <p:spPr>
          <a:xfrm>
            <a:off x="838200" y="5969000"/>
            <a:ext cx="105156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AA7B5"/>
                </a:solidFill>
              </a:rPr>
              <a:t>References:  </a:t>
            </a:r>
            <a:r>
              <a:rPr lang="en-US" sz="1100" b="1" u="sng" dirty="0" err="1">
                <a:solidFill>
                  <a:srgbClr val="0073CF"/>
                </a:solidFill>
              </a:rPr>
              <a:t>AgentFlow</a:t>
            </a:r>
            <a:r>
              <a:rPr lang="en-US" sz="1100" b="1" dirty="0">
                <a:solidFill>
                  <a:srgbClr val="9AA7B5"/>
                </a:solidFill>
              </a:rPr>
              <a:t>    ·    </a:t>
            </a:r>
            <a:r>
              <a:rPr lang="en-US" sz="1100" b="1" u="sng" dirty="0">
                <a:solidFill>
                  <a:srgbClr val="0073CF"/>
                </a:solidFill>
              </a:rPr>
              <a:t>AORCHESTRA</a:t>
            </a:r>
            <a:r>
              <a:rPr lang="en-US" sz="1100" b="1" dirty="0">
                <a:solidFill>
                  <a:srgbClr val="9AA7B5"/>
                </a:solidFill>
              </a:rPr>
              <a:t>    ·    </a:t>
            </a:r>
            <a:r>
              <a:rPr lang="en-US" sz="1100" b="1" u="sng" dirty="0">
                <a:solidFill>
                  <a:srgbClr val="0073CF"/>
                </a:solidFill>
              </a:rPr>
              <a:t>MAS-Orchestra</a:t>
            </a:r>
            <a:endParaRPr lang="en-US" sz="1100" dirty="0">
              <a:solidFill>
                <a:srgbClr val="9AA7B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837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D49A8B-44F5-3D21-3273-F7F84498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5341933F-002B-EA81-F176-3616706947C7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07CFA4-C473-EE7D-60A7-A56E1148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78B36-AE0A-D38E-AB83-BADE92097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 anchor="ctr" anchorCtr="0">
            <a:normAutofit/>
          </a:bodyPr>
          <a:lstStyle/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Clr>
                <a:srgbClr val="0073CF"/>
              </a:buClr>
              <a:buFont typeface="Arial"/>
              <a:buAutoNum type="arabicPeriod"/>
            </a:pPr>
            <a:r>
              <a:rPr lang="en-US" sz="2400" b="1" dirty="0">
                <a:solidFill>
                  <a:srgbClr val="00396B"/>
                </a:solidFill>
              </a:rPr>
              <a:t>AgentFlow  </a:t>
            </a:r>
            <a:r>
              <a:rPr lang="en-US" sz="2400" dirty="0">
                <a:solidFill>
                  <a:srgbClr val="3A3A3C"/>
                </a:solidFill>
              </a:rPr>
              <a:t>In-the-Flow Agentic System Optimization for Effective Planning and Tool Use.  </a:t>
            </a:r>
            <a:r>
              <a:rPr lang="en-US" sz="2400" i="1" dirty="0">
                <a:solidFill>
                  <a:srgbClr val="6E7B8B"/>
                </a:solidFill>
              </a:rPr>
              <a:t>arXiv:2510.05592, 2025.</a:t>
            </a:r>
          </a:p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Clr>
                <a:srgbClr val="0073CF"/>
              </a:buClr>
              <a:buFont typeface="Arial"/>
              <a:buAutoNum type="arabicPeriod"/>
            </a:pPr>
            <a:r>
              <a:rPr lang="en-US" sz="2400" b="1" dirty="0">
                <a:solidFill>
                  <a:srgbClr val="00396B"/>
                </a:solidFill>
              </a:rPr>
              <a:t>AORCHESTRA  </a:t>
            </a:r>
            <a:r>
              <a:rPr lang="en-US" sz="2400" dirty="0">
                <a:solidFill>
                  <a:srgbClr val="3A3A3C"/>
                </a:solidFill>
              </a:rPr>
              <a:t>AOrchestra: Automating Sub-Agent Creation for Agentic Orchestration.  </a:t>
            </a:r>
            <a:r>
              <a:rPr lang="en-US" sz="2400" i="1" dirty="0">
                <a:solidFill>
                  <a:srgbClr val="6E7B8B"/>
                </a:solidFill>
              </a:rPr>
              <a:t>arXiv:2602.03786, 2026.</a:t>
            </a:r>
          </a:p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Clr>
                <a:srgbClr val="0073CF"/>
              </a:buClr>
              <a:buFont typeface="Arial"/>
              <a:buAutoNum type="arabicPeriod"/>
            </a:pPr>
            <a:r>
              <a:rPr lang="en-US" sz="2400" b="1" dirty="0">
                <a:solidFill>
                  <a:srgbClr val="00396B"/>
                </a:solidFill>
              </a:rPr>
              <a:t>MAS-Orchestra  </a:t>
            </a:r>
            <a:r>
              <a:rPr lang="en-US" sz="2400" dirty="0">
                <a:solidFill>
                  <a:srgbClr val="3A3A3C"/>
                </a:solidFill>
              </a:rPr>
              <a:t>Understanding and Improving Multi-Agent Reasoning Through Holistic Orchestration and Controlled Benchmarks.  </a:t>
            </a:r>
            <a:r>
              <a:rPr lang="en-US" sz="2400" i="1" dirty="0">
                <a:solidFill>
                  <a:srgbClr val="6E7B8B"/>
                </a:solidFill>
              </a:rPr>
              <a:t>arXiv:2601.14652, 2026.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911C5-A231-2935-6CF4-C8E6CCF51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13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B3E5C5B5-68FB-DD6B-E562-BD23A5B3FE47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11AA0B4-19AE-C9F9-1EC1-74CE17208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10F430A3-570D-D19B-5FA8-40674FA2F7F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</a:t>
            </a:r>
            <a:r>
              <a:rPr lang="en-US" altLang="zh-CN" sz="1400" b="1" spc="200" dirty="0">
                <a:solidFill>
                  <a:srgbClr val="FFFFFF"/>
                </a:solidFill>
              </a:rPr>
              <a:t>2</a:t>
            </a:r>
            <a:endParaRPr lang="en-US" sz="1400" b="1" spc="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961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30C1EB-0A6A-8388-D2D1-BB489F9E6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E65DDBFB-2059-9353-9B38-B4845BC3798A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4BC883-80AB-F403-CE7B-9BF390AD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altLang="zh-CN" sz="4000" b="1" dirty="0">
                <a:solidFill>
                  <a:srgbClr val="00396B"/>
                </a:solidFill>
              </a:rPr>
              <a:t>To-Do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List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03090-DC3E-4758-D01A-822A94B70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 anchor="ctr" anchorCtr="0">
            <a:normAutofit/>
          </a:bodyPr>
          <a:lstStyle/>
          <a:p>
            <a:pPr marL="457200" indent="-45720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1.  </a:t>
            </a:r>
            <a:r>
              <a:rPr lang="en-US" sz="2400" dirty="0">
                <a:solidFill>
                  <a:srgbClr val="1A1A1A"/>
                </a:solidFill>
              </a:rPr>
              <a:t>Build the heterogeneous MAS codebase on top of MAS-Orchestra</a:t>
            </a:r>
          </a:p>
          <a:p>
            <a:pPr marL="457200" indent="-45720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2.  </a:t>
            </a:r>
            <a:r>
              <a:rPr lang="en-US" sz="2400" dirty="0">
                <a:solidFill>
                  <a:srgbClr val="1A1A1A"/>
                </a:solidFill>
              </a:rPr>
              <a:t>Implement our proposed approach</a:t>
            </a:r>
            <a:r>
              <a:rPr lang="en-US" altLang="zh-CN" sz="2400" dirty="0">
                <a:solidFill>
                  <a:srgbClr val="1A1A1A"/>
                </a:solidFill>
              </a:rPr>
              <a:t>:</a:t>
            </a:r>
            <a:r>
              <a:rPr lang="zh-CN" altLang="en-US" sz="2400" dirty="0">
                <a:solidFill>
                  <a:srgbClr val="1A1A1A"/>
                </a:solidFill>
              </a:rPr>
              <a:t> </a:t>
            </a:r>
            <a:r>
              <a:rPr lang="en-US" altLang="zh-CN" sz="2400" dirty="0">
                <a:solidFill>
                  <a:srgbClr val="1A1A1A"/>
                </a:solidFill>
              </a:rPr>
              <a:t>prompt,</a:t>
            </a:r>
            <a:r>
              <a:rPr lang="zh-CN" altLang="en-US" sz="2400" dirty="0">
                <a:solidFill>
                  <a:srgbClr val="1A1A1A"/>
                </a:solidFill>
              </a:rPr>
              <a:t> </a:t>
            </a:r>
            <a:r>
              <a:rPr lang="en-US" altLang="zh-CN" sz="2400" dirty="0">
                <a:solidFill>
                  <a:srgbClr val="1A1A1A"/>
                </a:solidFill>
              </a:rPr>
              <a:t>SFT,</a:t>
            </a:r>
            <a:r>
              <a:rPr lang="zh-CN" altLang="en-US" sz="2400" dirty="0">
                <a:solidFill>
                  <a:srgbClr val="1A1A1A"/>
                </a:solidFill>
              </a:rPr>
              <a:t> </a:t>
            </a:r>
            <a:r>
              <a:rPr lang="en-US" altLang="zh-CN" sz="2400" dirty="0">
                <a:solidFill>
                  <a:srgbClr val="1A1A1A"/>
                </a:solidFill>
              </a:rPr>
              <a:t>RL</a:t>
            </a:r>
            <a:endParaRPr lang="en-US" sz="2400" dirty="0">
              <a:solidFill>
                <a:srgbClr val="1A1A1A"/>
              </a:solidFill>
            </a:endParaRPr>
          </a:p>
          <a:p>
            <a:pPr marL="457200" indent="-45720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3.  </a:t>
            </a:r>
            <a:r>
              <a:rPr lang="en-US" sz="2400" dirty="0">
                <a:solidFill>
                  <a:srgbClr val="1A1A1A"/>
                </a:solidFill>
              </a:rPr>
              <a:t>Conduct experiments and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84C85-55A6-4471-5B78-F6E78AB42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14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6D20B819-575D-9B7C-5777-38D763B6ED89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22D632C3-0F8B-2068-E170-2CF937E2A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D10B075F-598E-2B65-E519-6762EF817139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</a:t>
            </a:r>
            <a:r>
              <a:rPr lang="en-US" altLang="zh-CN" sz="1400" b="1" spc="200" dirty="0">
                <a:solidFill>
                  <a:srgbClr val="FFFFFF"/>
                </a:solidFill>
              </a:rPr>
              <a:t>2</a:t>
            </a:r>
            <a:endParaRPr lang="en-US" sz="1400" b="1" spc="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8181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4FB71-9893-98DA-E7F0-0FA46CD3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opCard 496">
            <a:extLst>
              <a:ext uri="{FF2B5EF4-FFF2-40B4-BE49-F238E27FC236}">
                <a16:creationId xmlns:a16="http://schemas.microsoft.com/office/drawing/2014/main" id="{87714806-0485-3C4F-AA5D-A9A028EAD123}"/>
              </a:ext>
            </a:extLst>
          </p:cNvPr>
          <p:cNvSpPr/>
          <p:nvPr/>
        </p:nvSpPr>
        <p:spPr>
          <a:xfrm>
            <a:off x="6299200" y="2311400"/>
            <a:ext cx="5054600" cy="18288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9A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8" name="TopCard 66">
            <a:extLst>
              <a:ext uri="{FF2B5EF4-FFF2-40B4-BE49-F238E27FC236}">
                <a16:creationId xmlns:a16="http://schemas.microsoft.com/office/drawing/2014/main" id="{C0B54BD6-C697-CF4E-879B-4A5C039A16E7}"/>
              </a:ext>
            </a:extLst>
          </p:cNvPr>
          <p:cNvSpPr/>
          <p:nvPr/>
        </p:nvSpPr>
        <p:spPr>
          <a:xfrm>
            <a:off x="838200" y="2311400"/>
            <a:ext cx="5054600" cy="18288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9A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5" name="Footer Bar">
            <a:extLst>
              <a:ext uri="{FF2B5EF4-FFF2-40B4-BE49-F238E27FC236}">
                <a16:creationId xmlns:a16="http://schemas.microsoft.com/office/drawing/2014/main" id="{24DF1DB0-6162-C506-3C27-1C69DC951FF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786BB6-CB81-FA99-84D2-7C37AE126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Overview</a:t>
            </a:r>
            <a:r>
              <a:rPr lang="en-US" altLang="zh-CN" sz="4000" b="1" dirty="0">
                <a:solidFill>
                  <a:srgbClr val="00396B"/>
                </a:solidFill>
              </a:rPr>
              <a:t>:</a:t>
            </a:r>
            <a:r>
              <a:rPr lang="en-US" sz="4000" b="1" dirty="0">
                <a:solidFill>
                  <a:srgbClr val="00396B"/>
                </a:solidFill>
              </a:rPr>
              <a:t> MAS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Co-Evolution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D992A-4FA0-9A94-37B2-8E36F82B8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1400"/>
            <a:ext cx="5054600" cy="1828800"/>
          </a:xfrm>
        </p:spPr>
        <p:txBody>
          <a:bodyPr lIns="152400" tIns="152400" rIns="114300" bIns="10160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Motivation</a:t>
            </a:r>
          </a:p>
          <a:p>
            <a:pPr marL="200025" indent="-200025" algn="l">
              <a:lnSpc>
                <a:spcPct val="104000"/>
              </a:lnSpc>
              <a:spcBef>
                <a:spcPts val="30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Centralized MAS: </a:t>
            </a:r>
            <a:r>
              <a:rPr lang="en-US" sz="1400" dirty="0">
                <a:solidFill>
                  <a:srgbClr val="1A1A1A"/>
                </a:solidFill>
              </a:rPr>
              <a:t>a single controller becomes a scalability bottleneck and a single point of failure</a:t>
            </a:r>
          </a:p>
          <a:p>
            <a:pPr marL="200025" indent="-200025" algn="l">
              <a:lnSpc>
                <a:spcPct val="104000"/>
              </a:lnSpc>
              <a:spcBef>
                <a:spcPts val="30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Decentralized MAS: </a:t>
            </a:r>
            <a:r>
              <a:rPr lang="en-US" sz="1400" dirty="0">
                <a:solidFill>
                  <a:srgbClr val="1A1A1A"/>
                </a:solidFill>
              </a:rPr>
              <a:t>local-only views block knowledge sharing, capping collective performance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CD026-3B59-15A5-1B5F-B87C7520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15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03073E4E-2B73-0632-B919-06FE618E67E6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8AFA1466-9172-5B6C-CD5C-61703720E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4C861B5-77BD-9EFC-A5F0-21D64EBAEB5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  <p:sp>
        <p:nvSpPr>
          <p:cNvPr id="30" name="Novelty Column"/>
          <p:cNvSpPr>
            <a:spLocks noGrp="1"/>
          </p:cNvSpPr>
          <p:nvPr/>
        </p:nvSpPr>
        <p:spPr>
          <a:xfrm>
            <a:off x="6299200" y="2311400"/>
            <a:ext cx="5054600" cy="1828800"/>
          </a:xfrm>
          <a:prstGeom prst="rect">
            <a:avLst/>
          </a:prstGeom>
        </p:spPr>
        <p:txBody>
          <a:bodyPr wrap="square" lIns="152400" tIns="152400" rIns="114300" bIns="10160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Novelty</a:t>
            </a:r>
            <a:r>
              <a:rPr lang="en-US" sz="2200" b="1">
                <a:solidFill>
                  <a:srgbClr val="0073CF"/>
                </a:solidFill>
              </a:rPr>
              <a:t>: Neighborhood </a:t>
            </a:r>
            <a:r>
              <a:rPr lang="en-US" sz="2200" b="1" dirty="0">
                <a:solidFill>
                  <a:srgbClr val="0073CF"/>
                </a:solidFill>
              </a:rPr>
              <a:t>Learning</a:t>
            </a:r>
          </a:p>
          <a:p>
            <a:pPr marL="200025" indent="-200025" algn="l">
              <a:lnSpc>
                <a:spcPct val="98000"/>
              </a:lnSpc>
              <a:spcBef>
                <a:spcPts val="10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No controller: </a:t>
            </a:r>
            <a:r>
              <a:rPr lang="en-US" sz="1400" dirty="0">
                <a:solidFill>
                  <a:srgbClr val="1A1A1A"/>
                </a:solidFill>
              </a:rPr>
              <a:t>fully decentralized — scales and avoids a single point of failure</a:t>
            </a:r>
          </a:p>
          <a:p>
            <a:pPr marL="200025" indent="-200025" algn="l">
              <a:lnSpc>
                <a:spcPct val="98000"/>
              </a:lnSpc>
              <a:spcBef>
                <a:spcPts val="10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Hierarchical memory: </a:t>
            </a:r>
            <a:r>
              <a:rPr lang="en-US" sz="1400" dirty="0">
                <a:solidFill>
                  <a:srgbClr val="1A1A1A"/>
                </a:solidFill>
              </a:rPr>
              <a:t>fuses local state with top-K peer signals for global context</a:t>
            </a:r>
          </a:p>
          <a:p>
            <a:pPr marL="200025" indent="-200025" algn="l">
              <a:lnSpc>
                <a:spcPct val="98000"/>
              </a:lnSpc>
              <a:spcBef>
                <a:spcPts val="10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Co-evolution: </a:t>
            </a:r>
            <a:r>
              <a:rPr lang="en-US" sz="1400" dirty="0">
                <a:solidFill>
                  <a:srgbClr val="1A1A1A"/>
                </a:solidFill>
              </a:rPr>
              <a:t>act on neighbor consensus and improve together, faster convergence</a:t>
            </a:r>
          </a:p>
        </p:txBody>
      </p:sp>
      <p:sp>
        <p:nvSpPr>
          <p:cNvPr id="16" name="Methodology Panel">
            <a:extLst>
              <a:ext uri="{FF2B5EF4-FFF2-40B4-BE49-F238E27FC236}">
                <a16:creationId xmlns:a16="http://schemas.microsoft.com/office/drawing/2014/main" id="{A705F024-E608-5643-845E-E7F08FDA515C}"/>
              </a:ext>
            </a:extLst>
          </p:cNvPr>
          <p:cNvSpPr/>
          <p:nvPr/>
        </p:nvSpPr>
        <p:spPr>
          <a:xfrm>
            <a:off x="838200" y="4191000"/>
            <a:ext cx="5054600" cy="20828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9A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152400" tIns="152400" rIns="114300" bIns="101600" rtlCol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Methodology</a:t>
            </a:r>
          </a:p>
          <a:p>
            <a:pPr marL="200025" indent="-200025" algn="l">
              <a:lnSpc>
                <a:spcPct val="98000"/>
              </a:lnSpc>
              <a:spcBef>
                <a:spcPts val="10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Neighbor selection: </a:t>
            </a:r>
            <a:r>
              <a:rPr lang="en-US" sz="1400" dirty="0">
                <a:solidFill>
                  <a:srgbClr val="1A1A1A"/>
                </a:solidFill>
              </a:rPr>
              <a:t>each agent scores peers and keeps its top-K</a:t>
            </a:r>
          </a:p>
          <a:p>
            <a:pPr marL="200025" indent="-200025" algn="l">
              <a:lnSpc>
                <a:spcPct val="98000"/>
              </a:lnSpc>
              <a:spcBef>
                <a:spcPts val="10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Graph evolution: </a:t>
            </a:r>
            <a:r>
              <a:rPr lang="en-US" sz="1400" dirty="0">
                <a:solidFill>
                  <a:srgbClr val="1A1A1A"/>
                </a:solidFill>
              </a:rPr>
              <a:t>edges rewire toward higher-value neighbors</a:t>
            </a:r>
          </a:p>
          <a:p>
            <a:pPr marL="200025" indent="-200025" algn="l">
              <a:lnSpc>
                <a:spcPct val="98000"/>
              </a:lnSpc>
              <a:spcBef>
                <a:spcPts val="10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Agent co-evolution: </a:t>
            </a:r>
            <a:r>
              <a:rPr lang="en-US" sz="1400" dirty="0">
                <a:solidFill>
                  <a:srgbClr val="1A1A1A"/>
                </a:solidFill>
              </a:rPr>
              <a:t>behavior adapts to neighbor consensus</a:t>
            </a:r>
          </a:p>
        </p:txBody>
      </p:sp>
      <p:sp>
        <p:nvSpPr>
          <p:cNvPr id="17" name="Experiments Panel">
            <a:extLst>
              <a:ext uri="{FF2B5EF4-FFF2-40B4-BE49-F238E27FC236}">
                <a16:creationId xmlns:a16="http://schemas.microsoft.com/office/drawing/2014/main" id="{6DF9720D-8A0C-B84D-9F00-FBF1621C1134}"/>
              </a:ext>
            </a:extLst>
          </p:cNvPr>
          <p:cNvSpPr/>
          <p:nvPr/>
        </p:nvSpPr>
        <p:spPr>
          <a:xfrm>
            <a:off x="6299200" y="4191000"/>
            <a:ext cx="5054600" cy="20828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9A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152400" tIns="152400" rIns="114300" bIns="101600" rtlCol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Experiments — Tasks</a:t>
            </a:r>
          </a:p>
          <a:p>
            <a:pPr marL="200025" indent="-200025" algn="l">
              <a:lnSpc>
                <a:spcPct val="104000"/>
              </a:lnSpc>
              <a:spcBef>
                <a:spcPts val="15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Collaborative Reasoning: </a:t>
            </a:r>
            <a:r>
              <a:rPr lang="en-US" sz="1400" dirty="0">
                <a:solidFill>
                  <a:srgbClr val="1A1A1A"/>
                </a:solidFill>
              </a:rPr>
              <a:t>jointly solving hard problems</a:t>
            </a:r>
          </a:p>
          <a:p>
            <a:pPr marL="200025" indent="-200025" algn="l">
              <a:lnSpc>
                <a:spcPct val="104000"/>
              </a:lnSpc>
              <a:spcBef>
                <a:spcPts val="15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Multi-Hop QA: </a:t>
            </a:r>
            <a:r>
              <a:rPr lang="en-US" sz="1400" dirty="0">
                <a:solidFill>
                  <a:srgbClr val="1A1A1A"/>
                </a:solidFill>
              </a:rPr>
              <a:t>multi-step, shared-evidence questions</a:t>
            </a:r>
          </a:p>
          <a:p>
            <a:pPr marL="200025" indent="-200025" algn="l">
              <a:lnSpc>
                <a:spcPct val="104000"/>
              </a:lnSpc>
              <a:spcBef>
                <a:spcPts val="150"/>
              </a:spcBef>
              <a:buClr>
                <a:srgbClr val="0073CF"/>
              </a:buClr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Code &amp; Tool Use: </a:t>
            </a:r>
            <a:r>
              <a:rPr lang="en-US" sz="1400" dirty="0">
                <a:solidFill>
                  <a:srgbClr val="1A1A1A"/>
                </a:solidFill>
              </a:rPr>
              <a:t>cooperative, tool-assisted coding</a:t>
            </a:r>
          </a:p>
        </p:txBody>
      </p:sp>
    </p:spTree>
    <p:extLst>
      <p:ext uri="{BB962C8B-B14F-4D97-AF65-F5344CB8AC3E}">
        <p14:creationId xmlns:p14="http://schemas.microsoft.com/office/powerpoint/2010/main" val="19687865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21825-3693-ED7A-2F05-1499638F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20D9F296-CAF9-88B0-874F-FB79E3FC03C8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8A697A-4466-F4CD-0714-35AB2CE22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sz="4000" b="1" dirty="0">
                <a:solidFill>
                  <a:srgbClr val="00396B"/>
                </a:solidFill>
              </a:rPr>
              <a:t>Ex</a:t>
            </a:r>
            <a:r>
              <a:rPr lang="en-US" altLang="zh-CN" sz="4000" b="1" dirty="0">
                <a:solidFill>
                  <a:srgbClr val="00396B"/>
                </a:solidFill>
              </a:rPr>
              <a:t>ample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E1013-B3BB-A184-3B44-6F0B5E905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100"/>
              </a:spcBef>
              <a:spcAft>
                <a:spcPts val="150"/>
              </a:spcAft>
              <a:buNone/>
            </a:pPr>
            <a:endParaRPr lang="en-US" sz="2400" dirty="0">
              <a:solidFill>
                <a:srgbClr val="0073C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3046E-35EE-5353-D6D7-1660E7C01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16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13A2CDB7-7DB3-D40D-2EFD-226CF84E11F0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E0D2BB50-3939-17A7-F401-B79EF95979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ED4E6D75-89DC-A480-717F-F84B0EC8A255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  <p:sp>
        <p:nvSpPr>
          <p:cNvPr id="9" name="AgentNet Reference">
            <a:extLst>
              <a:ext uri="{FF2B5EF4-FFF2-40B4-BE49-F238E27FC236}">
                <a16:creationId xmlns:a16="http://schemas.microsoft.com/office/drawing/2014/main" id="{8F3ADD61-6AA2-274B-9568-110895831D62}"/>
              </a:ext>
            </a:extLst>
          </p:cNvPr>
          <p:cNvSpPr txBox="1"/>
          <p:nvPr/>
        </p:nvSpPr>
        <p:spPr>
          <a:xfrm>
            <a:off x="1219200" y="5969000"/>
            <a:ext cx="97536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 i="1">
                <a:solidFill>
                  <a:srgbClr val="6E7B8B"/>
                </a:solidFill>
              </a:rPr>
              <a:t>Source: Liu et al., “AgentNet: Decentralized Evolutionary Coordination for LLM-based Multi-Agent Systems,” arXiv:2504.00587, 2025.</a:t>
            </a:r>
            <a:endParaRPr lang="en-CN" sz="1400" i="1">
              <a:solidFill>
                <a:srgbClr val="6E7B8B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C4E7E5-0117-B30E-3AF0-88389D153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655" y="2511855"/>
            <a:ext cx="9025089" cy="3457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9590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4FB71-9893-98DA-E7F0-0FA46CD3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24DF1DB0-6162-C506-3C27-1C69DC951FF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786BB6-CB81-FA99-84D2-7C37AE126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To-Do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List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D992A-4FA0-9A94-37B2-8E36F82B8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lnSpc>
                <a:spcPct val="108000"/>
              </a:lnSpc>
              <a:spcBef>
                <a:spcPts val="2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To-Do List</a:t>
            </a:r>
          </a:p>
          <a:p>
            <a:pPr marL="457200" indent="-457200" algn="l">
              <a:lnSpc>
                <a:spcPct val="108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1.  </a:t>
            </a:r>
            <a:r>
              <a:rPr lang="en-US" sz="2400" dirty="0">
                <a:solidFill>
                  <a:srgbClr val="1A1A1A"/>
                </a:solidFill>
              </a:rPr>
              <a:t>Reproduce AgentNet results</a:t>
            </a:r>
          </a:p>
          <a:p>
            <a:pPr marL="457200" indent="-457200" algn="l">
              <a:lnSpc>
                <a:spcPct val="108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2.  </a:t>
            </a:r>
            <a:r>
              <a:rPr lang="en-US" sz="2400" dirty="0">
                <a:solidFill>
                  <a:srgbClr val="1A1A1A"/>
                </a:solidFill>
              </a:rPr>
              <a:t>Implement our idea on top of the AgentNet codebase</a:t>
            </a:r>
          </a:p>
          <a:p>
            <a:pPr marL="457200" indent="-457200" algn="l">
              <a:lnSpc>
                <a:spcPct val="108000"/>
              </a:lnSpc>
              <a:spcBef>
                <a:spcPts val="300"/>
              </a:spcBef>
              <a:spcAft>
                <a:spcPts val="5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3.  </a:t>
            </a:r>
            <a:r>
              <a:rPr lang="en-US" sz="2400" dirty="0">
                <a:solidFill>
                  <a:srgbClr val="1A1A1A"/>
                </a:solidFill>
              </a:rPr>
              <a:t>Run extensive experiments on performance gain and convergence speed</a:t>
            </a:r>
          </a:p>
          <a:p>
            <a:pPr marL="0" indent="0" algn="l">
              <a:lnSpc>
                <a:spcPct val="108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Reference</a:t>
            </a:r>
          </a:p>
          <a:p>
            <a:pPr marL="457200" indent="-457200" algn="l">
              <a:lnSpc>
                <a:spcPct val="108000"/>
              </a:lnSpc>
              <a:spcBef>
                <a:spcPts val="200"/>
              </a:spcBef>
              <a:spcAft>
                <a:spcPts val="200"/>
              </a:spcAft>
              <a:buFont typeface="Arial"/>
              <a:buChar char="•"/>
            </a:pPr>
            <a:r>
              <a:rPr lang="en-US" sz="2000" dirty="0">
                <a:solidFill>
                  <a:srgbClr val="1A1A1A"/>
                </a:solidFill>
              </a:rPr>
              <a:t>Liu et al., “AgentNet: Decentralized Evolutionary Coordination for LLM-based Multi-Agent Systems,” arXiv:2504.00587,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CD026-3B59-15A5-1B5F-B87C7520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17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03073E4E-2B73-0632-B919-06FE618E67E6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8AFA1466-9172-5B6C-CD5C-61703720E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4C861B5-77BD-9EFC-A5F0-21D64EBAEB5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3376119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0542383111]">
  <a:themeElements>
    <a:clrScheme name="Office">
      <a:dk1>
        <a:srgbClr val="1A1A1A"/>
      </a:dk1>
      <a:lt1>
        <a:srgbClr val="FFFFFF"/>
      </a:lt1>
      <a:dk2>
        <a:srgbClr val="3A3A3C"/>
      </a:dk2>
      <a:lt2>
        <a:srgbClr val="EEF2F6"/>
      </a:lt2>
      <a:accent1>
        <a:srgbClr val="0073CF"/>
      </a:accent1>
      <a:accent2>
        <a:srgbClr val="00A0DF"/>
      </a:accent2>
      <a:accent3>
        <a:srgbClr val="3A3A3C"/>
      </a:accent3>
      <a:accent4>
        <a:srgbClr val="6E7B8B"/>
      </a:accent4>
      <a:accent5>
        <a:srgbClr val="5B7DB1"/>
      </a:accent5>
      <a:accent6>
        <a:srgbClr val="9AA7B5"/>
      </a:accent6>
      <a:hlink>
        <a:srgbClr val="0563C1"/>
      </a:hlink>
      <a:folHlink>
        <a:srgbClr val="954F72"/>
      </a:folHlink>
    </a:clrScheme>
    <a:fontScheme name="Office">
      <a:majorFont>
        <a:latin typeface="Georgia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04FAC70-4C29-F645-B172-CD84F456C558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86c7c018-4ea0-4a66-8684-02b9c0ceba5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1123</Words>
  <Application>Microsoft Macintosh PowerPoint</Application>
  <PresentationFormat>Widescreen</PresentationFormat>
  <Paragraphs>170</Paragraphs>
  <Slides>17</Slides>
  <Notes>2</Notes>
  <HiddenSlides>8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 [1780542383111]</vt:lpstr>
      <vt:lpstr>PowerPoint Presentation</vt:lpstr>
      <vt:lpstr>Summer Intern Project Update</vt:lpstr>
      <vt:lpstr>Summer Intern Project Update</vt:lpstr>
      <vt:lpstr>Project Overview</vt:lpstr>
      <vt:lpstr>Project Proposal</vt:lpstr>
      <vt:lpstr>Project Plan</vt:lpstr>
      <vt:lpstr>Summer Intern Project Update</vt:lpstr>
      <vt:lpstr>OrchestrateAnything: Project Overview</vt:lpstr>
      <vt:lpstr>Hierarchical MAS Architecture</vt:lpstr>
      <vt:lpstr>Orchestrator Responsibilities</vt:lpstr>
      <vt:lpstr>Efficiency: Costs &amp; Resource Allocation</vt:lpstr>
      <vt:lpstr>Experimental Design</vt:lpstr>
      <vt:lpstr>References</vt:lpstr>
      <vt:lpstr>To-Do List</vt:lpstr>
      <vt:lpstr>Overview: MAS Co-Evolution</vt:lpstr>
      <vt:lpstr>Example</vt:lpstr>
      <vt:lpstr>To-Do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 Wei</dc:creator>
  <cp:lastModifiedBy>Quan Wei</cp:lastModifiedBy>
  <cp:revision>26</cp:revision>
  <dcterms:created xsi:type="dcterms:W3CDTF">2023-09-27T00:43:16Z</dcterms:created>
  <dcterms:modified xsi:type="dcterms:W3CDTF">2026-06-12T14:51:03Z</dcterms:modified>
</cp:coreProperties>
</file>