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7"/>
  </p:notesMasterIdLst>
  <p:sldIdLst>
    <p:sldId id="275" r:id="rId2"/>
    <p:sldId id="312" r:id="rId3"/>
    <p:sldId id="327" r:id="rId4"/>
    <p:sldId id="334" r:id="rId5"/>
    <p:sldId id="332" r:id="rId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3"/>
    <p:restoredTop sz="96376"/>
  </p:normalViewPr>
  <p:slideViewPr>
    <p:cSldViewPr snapToGrid="0">
      <p:cViewPr varScale="1">
        <p:scale>
          <a:sx n="87" d="100"/>
          <a:sy n="87" d="100"/>
        </p:scale>
        <p:origin x="224" y="10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9A4D8-3B2C-044F-B9CE-BA9A5D441629}" type="datetimeFigureOut">
              <a:rPr lang="en-CN" smtClean="0"/>
              <a:t>2026/6/3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F683E-058F-7844-92CC-A1F3595AD25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699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8035A-B65B-BA43-DEFA-701C430F6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17265-960C-FE67-F86C-66A70F2B7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79538-356D-7C7F-EE4F-968ECE9D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09AB-5A71-B848-AE30-6241B4A377C3}" type="datetime1">
              <a:rPr lang="en-US" smtClean="0"/>
              <a:t>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93132-E1B1-0F99-3E3B-119533FB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281E1-7FB5-F70B-4379-3030052D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226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9205-F00A-E131-F6A7-DB0222E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8A6C-D713-B849-C327-8BAEE84BA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08F24-DFE6-3506-C4E9-CBE7FDF9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12CF-B6AE-474E-A1D1-12258281CB95}" type="datetime1">
              <a:rPr lang="en-US" smtClean="0"/>
              <a:t>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2B6B1-377C-00E6-D221-41B5A0710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14BB0-1C6B-D643-5E39-B8D6DB16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3132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74D16-7790-5C56-D603-85445D366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0D2B4-2803-8849-1DC1-0FBB60A74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568C0-F943-674A-357A-27859DB3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D9D0-4F79-BC4B-978E-030A93E4CCAE}" type="datetime1">
              <a:rPr lang="en-US" smtClean="0"/>
              <a:t>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D17ED-4A5F-2ECD-3DAC-F7EB47670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1F291-2A9E-885E-95C7-EF1B2F6E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54649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BC3D-A765-3BBE-F432-592CAD07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5179-5264-9811-AC7A-A3F895D80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2ACB9-92BE-3642-0D1D-5474C35CE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00400-C3A5-DD8F-B7D1-C7D8AC2C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B4FA-D8CB-FF46-9B48-72A2520F1EB0}" type="datetime1">
              <a:rPr lang="en-US" smtClean="0"/>
              <a:t>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17634-6DA0-E2B1-3C11-9D477007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259A4-E452-D3B1-6567-536EEC01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631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694B-37DC-9BF5-1B57-C11F0305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DF299-3F31-A743-BB96-3BB70CA1E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6C586-16D1-252D-8FD0-3698FE385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00F95-C143-B477-AA72-E3C28172B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AF49F-6DFC-246B-D645-9FFA0A610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EB587F-EC2A-2932-FEF6-686366A4E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D45-C04D-A143-B571-20041271315A}" type="datetime1">
              <a:rPr lang="en-US" smtClean="0"/>
              <a:t>6/3/26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AD7BE5-FFF9-EAD4-EC22-AB90B109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93856D-0319-1A63-66F8-021F2B61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733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932-6E0F-B5E7-9265-02793EF0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7746D0-4F72-5D91-8067-699C199F5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0501-1AEF-9240-8471-86DF1A6D9745}" type="datetime1">
              <a:rPr lang="en-US" smtClean="0"/>
              <a:t>6/3/26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45484-51AD-53CB-5C95-065E98EB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657B2-CA9B-1000-A50E-1754070F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477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A21C2-18B1-7B7B-2B43-F949CDA4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344E2-A38D-ED4A-9FAE-38DACDB44195}" type="datetime1">
              <a:rPr lang="en-US" smtClean="0"/>
              <a:t>6/3/26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1A609-0268-4640-BD31-47BB5C66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1EAA3-D590-C543-7AAC-FC05D5D2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060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72503-45C9-65D7-9526-66CCE46C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2CAF-BD6D-4CAB-7871-56FD71858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417B6-A247-00DE-975B-196884314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63B4F-350B-2D06-7778-81FE02D5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D108-18C9-8A47-BCEE-FC844F24048D}" type="datetime1">
              <a:rPr lang="en-US" smtClean="0"/>
              <a:t>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AB013-FDAD-420E-8447-52DD1298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D807F-6E2B-B302-79AD-EAAF990C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614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6BF97-12AC-9DC9-310D-AA0936A5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727154-2E33-C916-2D68-88ED9C060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54101-0138-32EE-FA02-BFA45EAA0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5ECC4-CE26-F232-E79D-64AB88CF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0546-E853-EA4A-BB99-95D94DD39026}" type="datetime1">
              <a:rPr lang="en-US" smtClean="0"/>
              <a:t>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6E3AA-BD02-E5EF-F8D5-E57A2A56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486DF-DDC2-B9A1-2228-CD93DAAC8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47230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4CBF-5A37-053A-B794-1F88C6DE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36724-CF77-6AB1-33AE-5D0863B82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BFAA7-6176-B479-B30D-C8A8C295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228F-5CF2-0046-9186-A5BCE16AD50F}" type="datetime1">
              <a:rPr lang="en-US" smtClean="0"/>
              <a:t>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AAAF4-55DE-C618-860F-87E90978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3C8BE-2A9B-4574-E706-716E0556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956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7AF81-A906-0820-E3B0-ECB5B41F9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D0E12-01BF-F3F9-314B-7C9A07318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1DC7C-0EE4-BD6F-CC11-E73EFD49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B0477-26BF-834F-AE73-C91BC4DF75D4}" type="datetime1">
              <a:rPr lang="en-US" smtClean="0"/>
              <a:t>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DB8B6-1130-96D9-00F9-AF4BE642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9F2E3-8EA6-9A8F-7D4B-799C939E4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572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DE98C-48CB-A7C5-69C0-7C8225D3A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45230-8B91-5EE3-70F9-FFF397887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0E9FA-4887-C647-1227-3563FEDD9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D221-21D5-E343-9B76-E6DA17C5106F}" type="datetime1">
              <a:rPr lang="en-US" smtClean="0"/>
              <a:t>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58184-3AA3-E462-D97A-C246FFF11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C0461-8630-3F7B-0BBE-781F8A335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A7A6B-4B1F-5446-A3A1-99DEB5EA7F8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408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ide Band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ccent Stripe"/>
          <p:cNvSpPr/>
          <p:nvPr/>
        </p:nvSpPr>
        <p:spPr>
          <a:xfrm>
            <a:off x="914400" y="4572000"/>
            <a:ext cx="1524000" cy="76200"/>
          </a:xfrm>
          <a:prstGeom prst="rect">
            <a:avLst/>
          </a:prstGeom>
          <a:solidFill>
            <a:srgbClr val="0073C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3BC2B-9AD7-8F77-0482-60AC0C38D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489200"/>
            <a:ext cx="10414000" cy="1524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00396B"/>
                </a:solidFill>
              </a:rPr>
              <a:t>Summer Intern Project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06AAC-30D0-931F-13F6-83F8F178D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978400"/>
            <a:ext cx="9652000" cy="889000"/>
          </a:xfrm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396B"/>
                </a:solidFill>
              </a:rPr>
              <a:t>Quan Wei</a:t>
            </a:r>
            <a:r>
              <a:rPr lang="en-US" sz="1800" dirty="0">
                <a:solidFill>
                  <a:srgbClr val="9AA7B5"/>
                </a:solidFill>
              </a:rPr>
              <a:t>      |      </a:t>
            </a:r>
            <a:r>
              <a:rPr lang="en-US" sz="1600" dirty="0">
                <a:solidFill>
                  <a:srgbClr val="6E7B8B"/>
                </a:solidFill>
              </a:rPr>
              <a:t>June 1 – August 7,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7311-195D-0088-1A8F-8AE5FDEC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10800" y="6451600"/>
            <a:ext cx="1524000" cy="304800"/>
          </a:xfrm>
        </p:spPr>
        <p:txBody>
          <a:bodyPr anchor="ctr" anchorCtr="0"/>
          <a:lstStyle/>
          <a:p>
            <a:fld id="{FC0A7A6B-4B1F-5446-A3A1-99DEB5EA7F81}" type="slidenum">
              <a:rPr lang="en-CN" smtClean="0">
                <a:solidFill>
                  <a:srgbClr val="9AA7B5"/>
                </a:solidFill>
              </a:rPr>
              <a:t>1</a:t>
            </a:fld>
            <a:endParaRPr lang="en-CN">
              <a:solidFill>
                <a:srgbClr val="9AA7B5"/>
              </a:solidFill>
            </a:endParaRPr>
          </a:p>
        </p:txBody>
      </p:sp>
      <p:sp>
        <p:nvSpPr>
          <p:cNvPr id="61" name="Band Label"/>
          <p:cNvSpPr/>
          <p:nvPr/>
        </p:nvSpPr>
        <p:spPr>
          <a:xfrm>
            <a:off x="914400" y="21336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300" dirty="0">
                <a:solidFill>
                  <a:srgbClr val="0073CF"/>
                </a:solidFill>
              </a:rPr>
              <a:t>RESEARCH INTERNSHIP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1ED2A-126C-C268-0703-0A945A4F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1120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58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Bar">
            <a:extLst>
              <a:ext uri="{FF2B5EF4-FFF2-40B4-BE49-F238E27FC236}">
                <a16:creationId xmlns:a16="http://schemas.microsoft.com/office/drawing/2014/main" id="{F8E0CC54-DBBB-3447-ACA3-D3B00C64F276}"/>
              </a:ext>
            </a:extLst>
          </p:cNvPr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0039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8EF8D-F4E9-0325-EF07-45C8516E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7000"/>
            <a:ext cx="105156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200" b="1" dirty="0">
                <a:solidFill>
                  <a:srgbClr val="00396B"/>
                </a:solidFill>
              </a:rPr>
              <a:t>Project</a:t>
            </a:r>
            <a:r>
              <a:rPr lang="zh-CN" altLang="en-US" sz="3200" b="1" dirty="0">
                <a:solidFill>
                  <a:srgbClr val="00396B"/>
                </a:solidFill>
              </a:rPr>
              <a:t> </a:t>
            </a:r>
            <a:r>
              <a:rPr lang="en-US" altLang="zh-CN" sz="3200" b="1" dirty="0">
                <a:solidFill>
                  <a:srgbClr val="00396B"/>
                </a:solidFill>
              </a:rPr>
              <a:t>Overview</a:t>
            </a:r>
            <a:endParaRPr lang="en-US" sz="3200" b="1" dirty="0">
              <a:solidFill>
                <a:srgbClr val="00396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3DCF4-26B4-2A4F-9E1E-5D811CCCC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0000"/>
            <a:ext cx="10515600" cy="3657600"/>
          </a:xfrm>
        </p:spPr>
        <p:txBody>
          <a:bodyPr/>
          <a:lstStyle/>
          <a:p>
            <a:pPr>
              <a:buNone/>
            </a:pP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D30ED-9F42-0C26-DC61-D1A079C2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10800" y="6451600"/>
            <a:ext cx="1524000" cy="304800"/>
          </a:xfrm>
        </p:spPr>
        <p:txBody>
          <a:bodyPr anchor="ctr" anchorCtr="0"/>
          <a:lstStyle/>
          <a:p>
            <a:fld id="{FC0A7A6B-4B1F-5446-A3A1-99DEB5EA7F81}" type="slidenum">
              <a:rPr lang="en-CN" smtClean="0">
                <a:solidFill>
                  <a:srgbClr val="9AA7B5"/>
                </a:solidFill>
              </a:rPr>
              <a:t>2</a:t>
            </a:fld>
            <a:endParaRPr lang="en-CN">
              <a:solidFill>
                <a:srgbClr val="9AA7B5"/>
              </a:solidFill>
            </a:endParaRPr>
          </a:p>
        </p:txBody>
      </p:sp>
      <p:sp>
        <p:nvSpPr>
          <p:cNvPr id="6" name="Accent Rule">
            <a:extLst>
              <a:ext uri="{FF2B5EF4-FFF2-40B4-BE49-F238E27FC236}">
                <a16:creationId xmlns:a16="http://schemas.microsoft.com/office/drawing/2014/main" id="{60581B44-37E6-4B43-822C-4B9692BF2E7D}"/>
              </a:ext>
            </a:extLst>
          </p:cNvPr>
          <p:cNvSpPr/>
          <p:nvPr/>
        </p:nvSpPr>
        <p:spPr>
          <a:xfrm>
            <a:off x="838200" y="2209800"/>
            <a:ext cx="1524000" cy="76200"/>
          </a:xfrm>
          <a:prstGeom prst="rect">
            <a:avLst/>
          </a:prstGeom>
          <a:solidFill>
            <a:srgbClr val="007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pic>
        <p:nvPicPr>
          <p:cNvPr id="7" name="Copied Picture 7">
            <a:extLst>
              <a:ext uri="{FF2B5EF4-FFF2-40B4-BE49-F238E27FC236}">
                <a16:creationId xmlns:a16="http://schemas.microsoft.com/office/drawing/2014/main" id="{56B1ED2A-126C-C268-0703-0A945A4F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8000"/>
            <a:ext cx="762000" cy="762000"/>
          </a:xfrm>
          <a:prstGeom prst="rect">
            <a:avLst/>
          </a:prstGeom>
        </p:spPr>
      </p:pic>
      <p:sp>
        <p:nvSpPr>
          <p:cNvPr id="20" name="Card Header 20"/>
          <p:cNvSpPr/>
          <p:nvPr/>
        </p:nvSpPr>
        <p:spPr>
          <a:xfrm>
            <a:off x="838200" y="2489200"/>
            <a:ext cx="5080000" cy="584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0396B"/>
          </a:solidFill>
          <a:ln>
            <a:noFill/>
          </a:ln>
        </p:spPr>
        <p:txBody>
          <a:bodyPr wrap="square" lIns="203200" tIns="0" rIns="203200" bIns="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Research Direction</a:t>
            </a:r>
          </a:p>
        </p:txBody>
      </p:sp>
      <p:sp>
        <p:nvSpPr>
          <p:cNvPr id="21" name="Card Body 20"/>
          <p:cNvSpPr/>
          <p:nvPr/>
        </p:nvSpPr>
        <p:spPr>
          <a:xfrm>
            <a:off x="838200" y="3073400"/>
            <a:ext cx="5080000" cy="3175000"/>
          </a:xfrm>
          <a:prstGeom prst="round2SameRect">
            <a:avLst>
              <a:gd name="adj1" fmla="val 0"/>
              <a:gd name="adj2" fmla="val 12000"/>
            </a:avLst>
          </a:prstGeom>
          <a:solidFill>
            <a:srgbClr val="EEF2F6"/>
          </a:solidFill>
          <a:ln>
            <a:noFill/>
          </a:ln>
        </p:spPr>
        <p:txBody>
          <a:bodyPr wrap="square" lIns="228600" tIns="177800" rIns="228600" bIns="17780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LLM-based multi-agent system</a:t>
            </a:r>
          </a:p>
          <a:p>
            <a:pPr marL="254000" indent="-2540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Agent harness: </a:t>
            </a:r>
            <a:r>
              <a:rPr lang="en-US" sz="1500" dirty="0">
                <a:solidFill>
                  <a:srgbClr val="1A1A1A"/>
                </a:solidFill>
              </a:rPr>
              <a:t>scaffolding around the LLM that manages the reasoning loop, tool invocation, and state across turns</a:t>
            </a:r>
          </a:p>
          <a:p>
            <a:pPr marL="254000" indent="-2540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Decentralized coordination: </a:t>
            </a:r>
            <a:r>
              <a:rPr lang="en-US" sz="1500" dirty="0">
                <a:solidFill>
                  <a:srgbClr val="1A1A1A"/>
                </a:solidFill>
              </a:rPr>
              <a:t>agents self-organize and reach consensus without a central orchestrator</a:t>
            </a:r>
          </a:p>
        </p:txBody>
      </p:sp>
      <p:sp>
        <p:nvSpPr>
          <p:cNvPr id="30" name="Card Header 30"/>
          <p:cNvSpPr/>
          <p:nvPr/>
        </p:nvSpPr>
        <p:spPr>
          <a:xfrm>
            <a:off x="6273800" y="2489200"/>
            <a:ext cx="5080000" cy="584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0396B"/>
          </a:solidFill>
          <a:ln>
            <a:noFill/>
          </a:ln>
        </p:spPr>
        <p:txBody>
          <a:bodyPr wrap="square" lIns="203200" tIns="0" rIns="203200" bIns="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Goals</a:t>
            </a:r>
          </a:p>
        </p:txBody>
      </p:sp>
      <p:sp>
        <p:nvSpPr>
          <p:cNvPr id="31" name="Card Body 30"/>
          <p:cNvSpPr/>
          <p:nvPr/>
        </p:nvSpPr>
        <p:spPr>
          <a:xfrm>
            <a:off x="6273800" y="3073400"/>
            <a:ext cx="5080000" cy="3175000"/>
          </a:xfrm>
          <a:prstGeom prst="round2SameRect">
            <a:avLst>
              <a:gd name="adj1" fmla="val 0"/>
              <a:gd name="adj2" fmla="val 12000"/>
            </a:avLst>
          </a:prstGeom>
          <a:solidFill>
            <a:srgbClr val="EEF2F6"/>
          </a:solidFill>
          <a:ln>
            <a:noFill/>
          </a:ln>
        </p:spPr>
        <p:txBody>
          <a:bodyPr wrap="square" lIns="228600" tIns="177800" rIns="228600" bIns="177800" anchor="t"/>
          <a:lstStyle/>
          <a:p>
            <a:pPr marL="254000" indent="-2540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Effective agent workflows: </a:t>
            </a:r>
            <a:r>
              <a:rPr lang="en-US" sz="1500" dirty="0">
                <a:solidFill>
                  <a:srgbClr val="1A1A1A"/>
                </a:solidFill>
              </a:rPr>
              <a:t>robust task decomposition and recovery that hold up on long-horizon tasks</a:t>
            </a:r>
          </a:p>
          <a:p>
            <a:pPr marL="254000" indent="-2540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Token efficiency: </a:t>
            </a:r>
            <a:r>
              <a:rPr lang="en-US" sz="1500" dirty="0">
                <a:solidFill>
                  <a:srgbClr val="1A1A1A"/>
                </a:solidFill>
              </a:rPr>
              <a:t>cut inter-agent communication and context overhead without losing accuracy</a:t>
            </a:r>
          </a:p>
          <a:p>
            <a:pPr marL="254000" indent="-2540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Research output: </a:t>
            </a:r>
            <a:r>
              <a:rPr lang="en-US" sz="1500" dirty="0">
                <a:solidFill>
                  <a:srgbClr val="1A1A1A"/>
                </a:solidFill>
              </a:rPr>
              <a:t>identify challenging, high-impact problems, solve them, and consolidate the findings into a paper submission</a:t>
            </a:r>
          </a:p>
        </p:txBody>
      </p:sp>
      <p:sp>
        <p:nvSpPr>
          <p:cNvPr id="10" name="Footer Name">
            <a:extLst>
              <a:ext uri="{FF2B5EF4-FFF2-40B4-BE49-F238E27FC236}">
                <a16:creationId xmlns:a16="http://schemas.microsoft.com/office/drawing/2014/main" id="{C86A6180-15B8-B344-BE74-A13E0788843F}"/>
              </a:ext>
            </a:extLst>
          </p:cNvPr>
          <p:cNvSpPr txBox="1"/>
          <p:nvPr/>
        </p:nvSpPr>
        <p:spPr>
          <a:xfrm>
            <a:off x="838200" y="6350000"/>
            <a:ext cx="5080000" cy="50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FFFFFF"/>
                </a:solidFill>
              </a:rPr>
              <a:t>Quan Wei</a:t>
            </a:r>
            <a:r>
              <a:rPr lang="en-US" sz="1400" b="1" spc="200" dirty="0">
                <a:solidFill>
                  <a:srgbClr val="9AA7B5"/>
                </a:solidFill>
              </a:rPr>
              <a:t>   |   </a:t>
            </a:r>
            <a:r>
              <a:rPr lang="en-US" sz="1400" b="1" spc="200" dirty="0">
                <a:solidFill>
                  <a:srgbClr val="FFFFFF"/>
                </a:solidFill>
              </a:rPr>
              <a:t>WEEK 1</a:t>
            </a:r>
          </a:p>
        </p:txBody>
      </p:sp>
    </p:spTree>
    <p:extLst>
      <p:ext uri="{BB962C8B-B14F-4D97-AF65-F5344CB8AC3E}">
        <p14:creationId xmlns:p14="http://schemas.microsoft.com/office/powerpoint/2010/main" val="2649299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EBEB-8015-2366-C980-540CC20E1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Bar">
            <a:extLst>
              <a:ext uri="{FF2B5EF4-FFF2-40B4-BE49-F238E27FC236}">
                <a16:creationId xmlns:a16="http://schemas.microsoft.com/office/drawing/2014/main" id="{3C4C11B8-CC0E-5DAA-BC2A-D74FC9415AF1}"/>
              </a:ext>
            </a:extLst>
          </p:cNvPr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0039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7C45E-9EB4-C736-A453-7F982B206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7000"/>
            <a:ext cx="10515600" cy="711200"/>
          </a:xfrm>
        </p:spPr>
        <p:txBody>
          <a:bodyPr anchor="t" anchorCtr="0"/>
          <a:lstStyle/>
          <a:p>
            <a:r>
              <a:rPr lang="en-US" altLang="zh-CN" sz="3200" b="1" dirty="0">
                <a:solidFill>
                  <a:srgbClr val="00396B"/>
                </a:solidFill>
              </a:rPr>
              <a:t>Project</a:t>
            </a:r>
            <a:r>
              <a:rPr lang="zh-CN" altLang="en-US" sz="3200" b="1" dirty="0">
                <a:solidFill>
                  <a:srgbClr val="00396B"/>
                </a:solidFill>
              </a:rPr>
              <a:t> </a:t>
            </a:r>
            <a:r>
              <a:rPr lang="en-US" sz="3200" b="1" dirty="0">
                <a:solidFill>
                  <a:srgbClr val="00396B"/>
                </a:solidFill>
              </a:rPr>
              <a:t>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F6CFD-F019-3D66-B40F-9942631B9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7600"/>
            <a:ext cx="10515600" cy="457200"/>
          </a:xfrm>
        </p:spPr>
        <p:txBody>
          <a:bodyPr>
            <a:normAutofit/>
          </a:bodyPr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396B"/>
                </a:solidFill>
              </a:rPr>
              <a:t>Large–Small Model Collaboration</a:t>
            </a:r>
            <a:r>
              <a:rPr lang="en-US" sz="1600" dirty="0">
                <a:solidFill>
                  <a:srgbClr val="3A3A3C"/>
                </a:solidFill>
              </a:rPr>
              <a:t>  —  each tier does the work it is best suited for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F33FE-E587-E27D-873C-E07E16B0A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10800" y="6451600"/>
            <a:ext cx="1524000" cy="304800"/>
          </a:xfrm>
        </p:spPr>
        <p:txBody>
          <a:bodyPr anchor="ctr" anchorCtr="0"/>
          <a:lstStyle/>
          <a:p>
            <a:fld id="{FC0A7A6B-4B1F-5446-A3A1-99DEB5EA7F81}" type="slidenum">
              <a:rPr lang="en-CN" smtClean="0">
                <a:solidFill>
                  <a:srgbClr val="9AA7B5"/>
                </a:solidFill>
              </a:rPr>
              <a:t>3</a:t>
            </a:fld>
            <a:endParaRPr lang="en-CN">
              <a:solidFill>
                <a:srgbClr val="9AA7B5"/>
              </a:solidFill>
            </a:endParaRPr>
          </a:p>
        </p:txBody>
      </p:sp>
      <p:sp>
        <p:nvSpPr>
          <p:cNvPr id="6" name="Accent Rule">
            <a:extLst>
              <a:ext uri="{FF2B5EF4-FFF2-40B4-BE49-F238E27FC236}">
                <a16:creationId xmlns:a16="http://schemas.microsoft.com/office/drawing/2014/main" id="{C68C517F-5ACB-7B49-135C-7434082740D8}"/>
              </a:ext>
            </a:extLst>
          </p:cNvPr>
          <p:cNvSpPr/>
          <p:nvPr/>
        </p:nvSpPr>
        <p:spPr>
          <a:xfrm>
            <a:off x="838200" y="2209800"/>
            <a:ext cx="1524000" cy="76200"/>
          </a:xfrm>
          <a:prstGeom prst="rect">
            <a:avLst/>
          </a:prstGeom>
          <a:solidFill>
            <a:srgbClr val="007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pic>
        <p:nvPicPr>
          <p:cNvPr id="7" name="Copied Picture 7">
            <a:extLst>
              <a:ext uri="{FF2B5EF4-FFF2-40B4-BE49-F238E27FC236}">
                <a16:creationId xmlns:a16="http://schemas.microsoft.com/office/drawing/2014/main" id="{CA4B2E08-AD10-974E-24F5-613EE04D3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8000"/>
            <a:ext cx="762000" cy="762000"/>
          </a:xfrm>
          <a:prstGeom prst="rect">
            <a:avLst/>
          </a:prstGeom>
        </p:spPr>
      </p:pic>
      <p:sp>
        <p:nvSpPr>
          <p:cNvPr id="10" name="Footer Name">
            <a:extLst>
              <a:ext uri="{FF2B5EF4-FFF2-40B4-BE49-F238E27FC236}">
                <a16:creationId xmlns:a16="http://schemas.microsoft.com/office/drawing/2014/main" id="{96DB3708-BCDB-4D06-A70B-E5FA88A3E60A}"/>
              </a:ext>
            </a:extLst>
          </p:cNvPr>
          <p:cNvSpPr txBox="1"/>
          <p:nvPr/>
        </p:nvSpPr>
        <p:spPr>
          <a:xfrm>
            <a:off x="838200" y="6350000"/>
            <a:ext cx="5080000" cy="50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FFFFFF"/>
                </a:solidFill>
              </a:rPr>
              <a:t>Quan Wei</a:t>
            </a:r>
            <a:r>
              <a:rPr lang="en-US" sz="1400" b="1" spc="200" dirty="0">
                <a:solidFill>
                  <a:srgbClr val="9AA7B5"/>
                </a:solidFill>
              </a:rPr>
              <a:t>   |   </a:t>
            </a:r>
            <a:r>
              <a:rPr lang="en-US" sz="1400" b="1" spc="200" dirty="0">
                <a:solidFill>
                  <a:srgbClr val="FFFFFF"/>
                </a:solidFill>
              </a:rPr>
              <a:t>WEEK 1</a:t>
            </a:r>
          </a:p>
        </p:txBody>
      </p:sp>
      <p:graphicFrame>
        <p:nvGraphicFramePr>
          <p:cNvPr id="9" name="LLM SLM Table">
            <a:extLst>
              <a:ext uri="{FF2B5EF4-FFF2-40B4-BE49-F238E27FC236}">
                <a16:creationId xmlns:a16="http://schemas.microsoft.com/office/drawing/2014/main" id="{29D22ECD-818E-5847-B870-BB464A49F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387024"/>
              </p:ext>
            </p:extLst>
          </p:nvPr>
        </p:nvGraphicFramePr>
        <p:xfrm>
          <a:off x="838200" y="2971800"/>
          <a:ext cx="10515600" cy="142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086531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660271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6102026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endParaRPr lang="en-CN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03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500" b="1">
                          <a:solidFill>
                            <a:srgbClr val="FFFFFF"/>
                          </a:solidFill>
                        </a:rPr>
                        <a:t>Large model (LLM)</a:t>
                      </a:r>
                    </a:p>
                  </a:txBody>
                  <a:tcPr anchor="ctr">
                    <a:solidFill>
                      <a:srgbClr val="003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500" b="1">
                          <a:solidFill>
                            <a:srgbClr val="FFFFFF"/>
                          </a:solidFill>
                        </a:rPr>
                        <a:t>Small model (SLM)</a:t>
                      </a:r>
                    </a:p>
                  </a:txBody>
                  <a:tcPr anchor="ctr">
                    <a:solidFill>
                      <a:srgbClr val="003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58065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CN" sz="1400" b="1">
                          <a:solidFill>
                            <a:srgbClr val="00396B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sz="1400">
                          <a:solidFill>
                            <a:srgbClr val="1A1A1A"/>
                          </a:solidFill>
                        </a:rPr>
                        <a:t>Planner / orchestrator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sz="1400">
                          <a:solidFill>
                            <a:srgbClr val="1A1A1A"/>
                          </a:solidFill>
                        </a:rPr>
                        <a:t>Executor / specialist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05921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CN" sz="1400" b="1">
                          <a:solidFill>
                            <a:srgbClr val="00396B"/>
                          </a:solidFill>
                        </a:rPr>
                        <a:t>Handles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sz="1400">
                          <a:solidFill>
                            <a:srgbClr val="1A1A1A"/>
                          </a:solidFill>
                        </a:rPr>
                        <a:t>Complex reasoning, decomposition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sz="1400">
                          <a:solidFill>
                            <a:srgbClr val="1A1A1A"/>
                          </a:solidFill>
                        </a:rPr>
                        <a:t>Routine, latency-sensitive subtasks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79617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CN" sz="1400" b="1" dirty="0">
                          <a:solidFill>
                            <a:srgbClr val="00396B"/>
                          </a:solidFill>
                        </a:rPr>
                        <a:t>Cost</a:t>
                      </a:r>
                      <a:r>
                        <a:rPr lang="en-US" altLang="zh-CN" sz="1400" b="1" dirty="0">
                          <a:solidFill>
                            <a:srgbClr val="00396B"/>
                          </a:solidFill>
                        </a:rPr>
                        <a:t>/Latency</a:t>
                      </a:r>
                      <a:endParaRPr lang="en-CN" sz="1400" b="1" dirty="0">
                        <a:solidFill>
                          <a:srgbClr val="00396B"/>
                        </a:solidFill>
                      </a:endParaRP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sz="1400" b="1" dirty="0">
                          <a:solidFill>
                            <a:srgbClr val="00396B"/>
                          </a:solidFill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sz="1400" b="1" dirty="0">
                          <a:solidFill>
                            <a:srgbClr val="0073CF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423708"/>
                  </a:ext>
                </a:extLst>
              </a:tr>
            </a:tbl>
          </a:graphicData>
        </a:graphic>
      </p:graphicFrame>
      <p:sp>
        <p:nvSpPr>
          <p:cNvPr id="11" name="Bilevel Box">
            <a:extLst>
              <a:ext uri="{FF2B5EF4-FFF2-40B4-BE49-F238E27FC236}">
                <a16:creationId xmlns:a16="http://schemas.microsoft.com/office/drawing/2014/main" id="{BA0E625F-F202-264B-8D4C-2991FD6B7B63}"/>
              </a:ext>
            </a:extLst>
          </p:cNvPr>
          <p:cNvSpPr txBox="1"/>
          <p:nvPr/>
        </p:nvSpPr>
        <p:spPr>
          <a:xfrm>
            <a:off x="838200" y="4572000"/>
            <a:ext cx="105156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0396B"/>
                </a:solidFill>
              </a:rPr>
              <a:t>Bilevel Collaboration</a:t>
            </a:r>
          </a:p>
          <a:p>
            <a:pPr marL="285750" indent="-285750" algn="l">
              <a:spcBef>
                <a:spcPts val="120"/>
              </a:spcBef>
              <a:spcAft>
                <a:spcPts val="120"/>
              </a:spcAft>
              <a:buFont typeface="Arial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Task-level — cost-efficient: </a:t>
            </a:r>
            <a:r>
              <a:rPr lang="en-US" sz="1500" dirty="0">
                <a:solidFill>
                  <a:srgbClr val="1A1A1A"/>
                </a:solidFill>
              </a:rPr>
              <a:t>route simple subtasks to small models, sparing large-model calls.</a:t>
            </a:r>
          </a:p>
          <a:p>
            <a:pPr marL="285750" indent="-285750" algn="l">
              <a:spcBef>
                <a:spcPts val="120"/>
              </a:spcBef>
              <a:spcAft>
                <a:spcPts val="200"/>
              </a:spcAft>
              <a:buFont typeface="Arial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Token-level — token-efficient: </a:t>
            </a:r>
            <a:r>
              <a:rPr lang="en-US" sz="1500" dirty="0">
                <a:solidFill>
                  <a:srgbClr val="1A1A1A"/>
                </a:solidFill>
              </a:rPr>
              <a:t>small models draft tokens via speculative decoding, verified in one pass.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500" b="1" i="1" dirty="0">
              <a:solidFill>
                <a:srgbClr val="0073CF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0073CF"/>
                </a:solidFill>
              </a:rPr>
              <a:t>Unified, the two levels make end-to-end inference both cost- and token-efficient—without sacrificing quality.</a:t>
            </a:r>
          </a:p>
        </p:txBody>
      </p:sp>
    </p:spTree>
    <p:extLst>
      <p:ext uri="{BB962C8B-B14F-4D97-AF65-F5344CB8AC3E}">
        <p14:creationId xmlns:p14="http://schemas.microsoft.com/office/powerpoint/2010/main" val="2778514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2070-167E-3408-EEB2-F6ED38BC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Bar">
            <a:extLst>
              <a:ext uri="{FF2B5EF4-FFF2-40B4-BE49-F238E27FC236}">
                <a16:creationId xmlns:a16="http://schemas.microsoft.com/office/drawing/2014/main" id="{17037776-F042-D4D0-3477-67DA63A42406}"/>
              </a:ext>
            </a:extLst>
          </p:cNvPr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0039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BD462-E1DC-1CB9-A732-6BBF6994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7000"/>
            <a:ext cx="10515600" cy="711200"/>
          </a:xfrm>
        </p:spPr>
        <p:txBody>
          <a:bodyPr anchor="t" anchorCtr="0"/>
          <a:lstStyle/>
          <a:p>
            <a:r>
              <a:rPr lang="en-US" sz="3200" b="1" dirty="0">
                <a:solidFill>
                  <a:srgbClr val="00396B"/>
                </a:solidFill>
              </a:rPr>
              <a:t>Project</a:t>
            </a:r>
            <a:r>
              <a:rPr lang="zh-CN" altLang="en-US" sz="3200" b="1" dirty="0">
                <a:solidFill>
                  <a:srgbClr val="00396B"/>
                </a:solidFill>
              </a:rPr>
              <a:t> </a:t>
            </a:r>
            <a:r>
              <a:rPr lang="en-US" altLang="zh-CN" sz="3200" b="1" dirty="0">
                <a:solidFill>
                  <a:srgbClr val="00396B"/>
                </a:solidFill>
              </a:rPr>
              <a:t>Plan</a:t>
            </a:r>
            <a:endParaRPr lang="en-US" sz="3200" b="1" dirty="0">
              <a:solidFill>
                <a:srgbClr val="00396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AF201-9B98-2B16-C7F0-1698DC08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0000"/>
            <a:ext cx="10515600" cy="3657600"/>
          </a:xfrm>
        </p:spPr>
        <p:txBody>
          <a:bodyPr>
            <a:normAutofit/>
          </a:bodyPr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0396B"/>
                </a:solidFill>
              </a:rPr>
              <a:t>Models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1A1A1A"/>
                </a:solidFill>
              </a:rPr>
              <a:t>Closed-source (API): </a:t>
            </a:r>
            <a:r>
              <a:rPr lang="en-US" sz="1600" dirty="0">
                <a:solidFill>
                  <a:srgbClr val="1A1A1A"/>
                </a:solidFill>
              </a:rPr>
              <a:t>Claude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1A1A1A"/>
                </a:solidFill>
              </a:rPr>
              <a:t>Open-source: </a:t>
            </a:r>
            <a:r>
              <a:rPr lang="en-US" sz="1600" dirty="0">
                <a:solidFill>
                  <a:srgbClr val="1A1A1A"/>
                </a:solidFill>
              </a:rPr>
              <a:t>Qwen series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0396B"/>
                </a:solidFill>
              </a:rPr>
              <a:t>Tasks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1A1A1A"/>
                </a:solidFill>
              </a:rPr>
              <a:t>Deep Search: </a:t>
            </a:r>
            <a:r>
              <a:rPr lang="en-US" sz="1600" dirty="0">
                <a:solidFill>
                  <a:srgbClr val="1A1A1A"/>
                </a:solidFill>
              </a:rPr>
              <a:t>multi-step retrieval across sources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1A1A1A"/>
                </a:solidFill>
              </a:rPr>
              <a:t>Deep Research: </a:t>
            </a:r>
            <a:r>
              <a:rPr lang="en-US" sz="1600" dirty="0">
                <a:solidFill>
                  <a:srgbClr val="1A1A1A"/>
                </a:solidFill>
              </a:rPr>
              <a:t>synthesis of findings into structured reports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1A1A1A"/>
                </a:solidFill>
              </a:rPr>
              <a:t>Code Generation: </a:t>
            </a:r>
            <a:r>
              <a:rPr lang="en-US" sz="1600" dirty="0">
                <a:solidFill>
                  <a:srgbClr val="1A1A1A"/>
                </a:solidFill>
              </a:rPr>
              <a:t>end-to-end code writing and execution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0396B"/>
                </a:solidFill>
              </a:rPr>
              <a:t>Metrics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1A1A1A"/>
                </a:solidFill>
              </a:rPr>
              <a:t>Quality: </a:t>
            </a:r>
            <a:r>
              <a:rPr lang="en-US" sz="1600" dirty="0">
                <a:solidFill>
                  <a:srgbClr val="1A1A1A"/>
                </a:solidFill>
              </a:rPr>
              <a:t>task accuracy and answer correctness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1A1A1A"/>
                </a:solidFill>
              </a:rPr>
              <a:t>Efficiency: </a:t>
            </a:r>
            <a:r>
              <a:rPr lang="en-US" sz="1600" dirty="0">
                <a:solidFill>
                  <a:srgbClr val="1A1A1A"/>
                </a:solidFill>
              </a:rPr>
              <a:t>token cost and latency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AF0E1-99F5-B2B8-5864-40A0EC78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10800" y="6451600"/>
            <a:ext cx="1524000" cy="304800"/>
          </a:xfrm>
        </p:spPr>
        <p:txBody>
          <a:bodyPr anchor="ctr" anchorCtr="0"/>
          <a:lstStyle/>
          <a:p>
            <a:fld id="{FC0A7A6B-4B1F-5446-A3A1-99DEB5EA7F81}" type="slidenum">
              <a:rPr lang="en-CN" smtClean="0">
                <a:solidFill>
                  <a:srgbClr val="9AA7B5"/>
                </a:solidFill>
              </a:rPr>
              <a:t>4</a:t>
            </a:fld>
            <a:endParaRPr lang="en-CN">
              <a:solidFill>
                <a:srgbClr val="9AA7B5"/>
              </a:solidFill>
            </a:endParaRPr>
          </a:p>
        </p:txBody>
      </p:sp>
      <p:sp>
        <p:nvSpPr>
          <p:cNvPr id="6" name="Accent Rule">
            <a:extLst>
              <a:ext uri="{FF2B5EF4-FFF2-40B4-BE49-F238E27FC236}">
                <a16:creationId xmlns:a16="http://schemas.microsoft.com/office/drawing/2014/main" id="{1FEDF0BE-EA3E-F678-521A-F662C53C156B}"/>
              </a:ext>
            </a:extLst>
          </p:cNvPr>
          <p:cNvSpPr/>
          <p:nvPr/>
        </p:nvSpPr>
        <p:spPr>
          <a:xfrm>
            <a:off x="838200" y="2209800"/>
            <a:ext cx="1524000" cy="76200"/>
          </a:xfrm>
          <a:prstGeom prst="rect">
            <a:avLst/>
          </a:prstGeom>
          <a:solidFill>
            <a:srgbClr val="007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pic>
        <p:nvPicPr>
          <p:cNvPr id="7" name="Copied Picture 7">
            <a:extLst>
              <a:ext uri="{FF2B5EF4-FFF2-40B4-BE49-F238E27FC236}">
                <a16:creationId xmlns:a16="http://schemas.microsoft.com/office/drawing/2014/main" id="{00348D28-ADBA-B423-2122-472CBF1EF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8000"/>
            <a:ext cx="762000" cy="762000"/>
          </a:xfrm>
          <a:prstGeom prst="rect">
            <a:avLst/>
          </a:prstGeom>
        </p:spPr>
      </p:pic>
      <p:sp>
        <p:nvSpPr>
          <p:cNvPr id="10" name="Footer Name">
            <a:extLst>
              <a:ext uri="{FF2B5EF4-FFF2-40B4-BE49-F238E27FC236}">
                <a16:creationId xmlns:a16="http://schemas.microsoft.com/office/drawing/2014/main" id="{BEEE8946-DC29-629D-73C8-6B761EF36F3D}"/>
              </a:ext>
            </a:extLst>
          </p:cNvPr>
          <p:cNvSpPr txBox="1"/>
          <p:nvPr/>
        </p:nvSpPr>
        <p:spPr>
          <a:xfrm>
            <a:off x="838200" y="6350000"/>
            <a:ext cx="5080000" cy="50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FFFFFF"/>
                </a:solidFill>
              </a:rPr>
              <a:t>Quan Wei</a:t>
            </a:r>
            <a:r>
              <a:rPr lang="en-US" sz="1400" b="1" spc="200" dirty="0">
                <a:solidFill>
                  <a:srgbClr val="9AA7B5"/>
                </a:solidFill>
              </a:rPr>
              <a:t>   |   </a:t>
            </a:r>
            <a:r>
              <a:rPr lang="en-US" sz="1400" b="1" spc="200" dirty="0">
                <a:solidFill>
                  <a:srgbClr val="FFFFFF"/>
                </a:solidFill>
              </a:rPr>
              <a:t>WEEK 1</a:t>
            </a:r>
          </a:p>
        </p:txBody>
      </p:sp>
    </p:spTree>
    <p:extLst>
      <p:ext uri="{BB962C8B-B14F-4D97-AF65-F5344CB8AC3E}">
        <p14:creationId xmlns:p14="http://schemas.microsoft.com/office/powerpoint/2010/main" val="155738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F716-6B78-A664-4C46-3C5977ECD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Bar">
            <a:extLst>
              <a:ext uri="{FF2B5EF4-FFF2-40B4-BE49-F238E27FC236}">
                <a16:creationId xmlns:a16="http://schemas.microsoft.com/office/drawing/2014/main" id="{3C9D4CEF-3555-7854-1F9D-D28008C4F266}"/>
              </a:ext>
            </a:extLst>
          </p:cNvPr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0039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634FB-DF64-3844-36D2-1830F63A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7000"/>
            <a:ext cx="10515600" cy="711200"/>
          </a:xfrm>
        </p:spPr>
        <p:txBody>
          <a:bodyPr anchor="t" anchorCtr="0"/>
          <a:lstStyle/>
          <a:p>
            <a:endParaRPr lang="en-US" sz="3200" b="1" dirty="0">
              <a:solidFill>
                <a:srgbClr val="00396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A2116-23F5-FE71-A642-B53DB8E4A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0000"/>
            <a:ext cx="10515600" cy="3657600"/>
          </a:xfrm>
        </p:spPr>
        <p:txBody>
          <a:bodyPr>
            <a:normAutofit/>
          </a:bodyPr>
          <a:lstStyle/>
          <a:p>
            <a:pPr marL="0" indent="0" algn="l">
              <a:spcBef>
                <a:spcPts val="100"/>
              </a:spcBef>
              <a:spcAft>
                <a:spcPts val="150"/>
              </a:spcAft>
              <a:buNone/>
            </a:pPr>
            <a:endParaRPr lang="en-US" sz="1500" dirty="0">
              <a:solidFill>
                <a:srgbClr val="0073C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66C49-890C-B537-243D-F46EA0E6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10800" y="6451600"/>
            <a:ext cx="1524000" cy="304800"/>
          </a:xfrm>
        </p:spPr>
        <p:txBody>
          <a:bodyPr anchor="ctr" anchorCtr="0"/>
          <a:lstStyle/>
          <a:p>
            <a:fld id="{FC0A7A6B-4B1F-5446-A3A1-99DEB5EA7F81}" type="slidenum">
              <a:rPr lang="en-CN" smtClean="0">
                <a:solidFill>
                  <a:srgbClr val="9AA7B5"/>
                </a:solidFill>
              </a:rPr>
              <a:t>5</a:t>
            </a:fld>
            <a:endParaRPr lang="en-CN">
              <a:solidFill>
                <a:srgbClr val="9AA7B5"/>
              </a:solidFill>
            </a:endParaRPr>
          </a:p>
        </p:txBody>
      </p:sp>
      <p:sp>
        <p:nvSpPr>
          <p:cNvPr id="6" name="Accent Rule">
            <a:extLst>
              <a:ext uri="{FF2B5EF4-FFF2-40B4-BE49-F238E27FC236}">
                <a16:creationId xmlns:a16="http://schemas.microsoft.com/office/drawing/2014/main" id="{F552D167-F6C6-DD8A-C58A-E3062CB80615}"/>
              </a:ext>
            </a:extLst>
          </p:cNvPr>
          <p:cNvSpPr/>
          <p:nvPr/>
        </p:nvSpPr>
        <p:spPr>
          <a:xfrm>
            <a:off x="838200" y="2209800"/>
            <a:ext cx="1524000" cy="76200"/>
          </a:xfrm>
          <a:prstGeom prst="rect">
            <a:avLst/>
          </a:prstGeom>
          <a:solidFill>
            <a:srgbClr val="007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pic>
        <p:nvPicPr>
          <p:cNvPr id="7" name="Copied Picture 7">
            <a:extLst>
              <a:ext uri="{FF2B5EF4-FFF2-40B4-BE49-F238E27FC236}">
                <a16:creationId xmlns:a16="http://schemas.microsoft.com/office/drawing/2014/main" id="{44F6969E-B7D6-DB4F-3D46-0898E5231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8000"/>
            <a:ext cx="762000" cy="762000"/>
          </a:xfrm>
          <a:prstGeom prst="rect">
            <a:avLst/>
          </a:prstGeom>
        </p:spPr>
      </p:pic>
      <p:sp>
        <p:nvSpPr>
          <p:cNvPr id="10" name="Footer Name">
            <a:extLst>
              <a:ext uri="{FF2B5EF4-FFF2-40B4-BE49-F238E27FC236}">
                <a16:creationId xmlns:a16="http://schemas.microsoft.com/office/drawing/2014/main" id="{5640A57E-3A3F-4D74-E8E3-76F0EFD6D3B0}"/>
              </a:ext>
            </a:extLst>
          </p:cNvPr>
          <p:cNvSpPr txBox="1"/>
          <p:nvPr/>
        </p:nvSpPr>
        <p:spPr>
          <a:xfrm>
            <a:off x="838200" y="6350000"/>
            <a:ext cx="5080000" cy="50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FFFFFF"/>
                </a:solidFill>
              </a:rPr>
              <a:t>Quan Wei</a:t>
            </a:r>
            <a:r>
              <a:rPr lang="en-US" sz="1400" b="1" spc="200" dirty="0">
                <a:solidFill>
                  <a:srgbClr val="9AA7B5"/>
                </a:solidFill>
              </a:rPr>
              <a:t>   |   </a:t>
            </a:r>
            <a:r>
              <a:rPr lang="en-US" sz="1400" b="1" spc="200" dirty="0">
                <a:solidFill>
                  <a:srgbClr val="FFFFFF"/>
                </a:solidFill>
              </a:rPr>
              <a:t>WEEK 1</a:t>
            </a:r>
          </a:p>
        </p:txBody>
      </p:sp>
    </p:spTree>
    <p:extLst>
      <p:ext uri="{BB962C8B-B14F-4D97-AF65-F5344CB8AC3E}">
        <p14:creationId xmlns:p14="http://schemas.microsoft.com/office/powerpoint/2010/main" val="3498725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542383111]">
  <a:themeElements>
    <a:clrScheme name="Office">
      <a:dk1>
        <a:srgbClr val="1A1A1A"/>
      </a:dk1>
      <a:lt1>
        <a:srgbClr val="FFFFFF"/>
      </a:lt1>
      <a:dk2>
        <a:srgbClr val="3A3A3C"/>
      </a:dk2>
      <a:lt2>
        <a:srgbClr val="EEF2F6"/>
      </a:lt2>
      <a:accent1>
        <a:srgbClr val="0073CF"/>
      </a:accent1>
      <a:accent2>
        <a:srgbClr val="00A0DF"/>
      </a:accent2>
      <a:accent3>
        <a:srgbClr val="3A3A3C"/>
      </a:accent3>
      <a:accent4>
        <a:srgbClr val="6E7B8B"/>
      </a:accent4>
      <a:accent5>
        <a:srgbClr val="5B7DB1"/>
      </a:accent5>
      <a:accent6>
        <a:srgbClr val="9AA7B5"/>
      </a:accent6>
      <a:hlink>
        <a:srgbClr val="0563C1"/>
      </a:hlink>
      <a:folHlink>
        <a:srgbClr val="954F72"/>
      </a:folHlink>
    </a:clrScheme>
    <a:fontScheme name="Office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4FAC70-4C29-F645-B172-CD84F456C558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86c7c018-4ea0-4a66-8684-02b9c0ceba5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279</Words>
  <Application>Microsoft Macintosh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Georgia</vt:lpstr>
      <vt:lpstr>Office Theme [1780542383111]</vt:lpstr>
      <vt:lpstr>Summer Intern Project Update</vt:lpstr>
      <vt:lpstr>Project Overview</vt:lpstr>
      <vt:lpstr>Project Proposal</vt:lpstr>
      <vt:lpstr>Project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 Wei</dc:creator>
  <cp:lastModifiedBy>Quan Wei</cp:lastModifiedBy>
  <cp:revision>11</cp:revision>
  <dcterms:created xsi:type="dcterms:W3CDTF">2023-09-27T00:43:16Z</dcterms:created>
  <dcterms:modified xsi:type="dcterms:W3CDTF">2026-06-04T04:46:57Z</dcterms:modified>
</cp:coreProperties>
</file>